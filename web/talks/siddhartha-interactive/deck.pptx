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8"/>
    <p:sldId id="287" r:id="rId7"/>
    <p:sldId id="288" r:id="rId6"/>
    <p:sldId id="289" r:id="rId5"/>
    <p:sldId id="290" r:id="rId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274" r:id="rId20"/>
  </p:sldIdLst>
  <p:sldSz cx="12191365" cy="6858000" type="screen4x3"/>
  <p:notesSz cx="6858000" cy="9144000"/>
  <p:embeddedFontLst>
    <p:embeddedFont>
      <p:font typeface="方正雅意黑 GB18030L2" panose="02000500000000000000" charset="-12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56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hyperlink" Target="https://chesterlee.cn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7552" y="914400"/>
            <a:ext cx="39319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207008"/>
            <a:ext cx="3602736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85232" y="210312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Helvetica Neue"/>
              </a:rPr>
              <a:t>Chester Lee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5232" y="306324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50" b="0">
                <a:solidFill>
                  <a:srgbClr val="CFCFCF"/>
                </a:solidFill>
                <a:latin typeface="PingFang SC"/>
              </a:rPr>
              <a:t>INTJ · 现居深圳</a:t>
            </a:r>
          </a:p>
          <a:p>
            <a:pPr algn="l">
              <a:lnSpc>
                <a:spcPct val="155000"/>
              </a:lnSpc>
            </a:pPr>
            <a:r>
              <a:rPr sz="1850" b="0">
                <a:solidFill>
                  <a:srgbClr val="CFCFCF"/>
                </a:solidFill>
                <a:latin typeface="PingFang SC"/>
              </a:rPr>
              <a:t>信息化PM × 独立开发者（AI 产品）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85232" y="422452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A9A9A9"/>
                </a:solidFill>
                <a:latin typeface="PingFang SC"/>
                <a:hlinkClick r:id="rId3"/>
              </a:rPr>
              <a:t>https://chesterlee.cn/</a:t>
            </a:r>
          </a:p>
        </p:txBody>
      </p:sp>
      <p:sp>
        <p:nvSpPr>
          <p:cNvPr id="7" name="AILabel"/>
          <p:cNvSpPr txBox="1"/>
          <p:nvPr/>
        </p:nvSpPr>
        <p:spPr>
          <a:xfrm>
            <a:off x="961136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Contains AI-generated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活动海报_电脑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"/>
            <a:ext cx="12191365" cy="68576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先别说书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今晚不是一堂课，是十一次对话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00 · 破冰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用一个词，说说读这本书时你的感觉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一个词，别解释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00 · 基调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告别，是一条必经之路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也在悉达多的步履中经历他的告别：告别双亲及家园，告别朋友及老师，告别佛陀，告别挚爱，告别旧我。这些残酷的告别或许是人生真相，或许是获得神性自我，获得对万物、对人、对世界更为广大的宽容与爱的必经之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今晚从「告别」开始，因为这是他迈的第一步，也是我们每个人都要迈的那一步。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 姜乙《悉达多》译后记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离开是一个动作，离别是一场持续的蔓延。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 · 离别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你最近一次真正的「离开」，是什么时候？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一个人、一座城、一份工作、一种身份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不用挑最惨的，挑最清楚的那个。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 · 两个词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离开，还是离别？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47088"/>
            <a:ext cx="78912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是分开。发生在两个地点之间。说完了，就结束。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0779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626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44368"/>
            <a:ext cx="78912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是蔓延。发生在两个自己之间。不说完，一直在。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0507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过去没有离开，它一直在现在。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 · 一路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我们一生，都在练习离开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婴儿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47088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离开父母的怀抱，学会走路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32888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9464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离开父母的视线，走进人群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5526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91840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离开家乡、发小和熟悉的街道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7764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325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毕业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14215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离开同学、老师和住了四年的宿舍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700016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736592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离开一座城，离开一群人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2239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「每一次离开，都是为了成为更好的自己」——这句话，你信吗？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 · 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花盆里，养不出鲨鱼。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环境决定你的形态，意志改不了盆的大小。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Q2 · 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你现在待的这个「盆」，是谁给的？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公司、家庭、城市、一段关系，都可能是盆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【待补：你自己换盆的那一次——哪一年、为什么、换完变成了什么样子】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Q2 · 四次上路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一个人，四次上路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01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婆罗门之子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什么都有，仍觉得缺一块。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02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沙门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苦行三年，压不住「我」。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7046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03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世俗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2806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纵欲、暴富，然后厌弃。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90313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04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河边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56073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求死未遂，在河边醒来。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后面十次对话，就是这四次上路里的十一个岔口。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苦行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用尽方法，只为离开「我」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Q3 · 修行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你有没有做过「看起来在修行，其实在逃避」的事？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10896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跑步、读书、冥想、加班、早起打卡，都算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【待补：我自己的一个真实例子，一句话就够】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Q3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禅定是什么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禅定是什么？什么是脱离肉体？斋戒是什么？什么是屏息敛气？那不过是逃避「我」，是暂时从「我」的折磨中逃出来，是对生命的虚无和痛苦的暂时麻醉。这种逃避、麻醉，即便是驱牛者也能在客栈中找到。他只消喝上几杯米酒或发酵的椰子奶就能忘掉自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分辨修行和麻醉，不看形式，看它有没有让你更靠近自己。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Q3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我们只学了些把戏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哦，乔文达，我想，可能所有沙门都无法证悟涅槃。我们只寻得安慰、麻醉，我们只学了些迷惑自己的把戏。我们根本没有找到那条道中之道。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Q4 · 知道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「知道」能替代「经历」吗？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举手表决：A 学到了就是我的 / B 没亲历就不算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这一题要留时间，容易聊深。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Q4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人无法学会任何东西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哦，乔文达，人无法学会任何东西！我想，万物中根本没有我们称之为「修习」的东西。哦，我的朋友，只有一种知识，它无处不在，它就是阿特曼。它存在于「我」中，存在于「你」中，存在于一切中。因此我开始相信：这种知识最恼人的敌人莫过于求知欲和修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Q4 · 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使唐僧成为唐僧的，不是经书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而是那条取经的路。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Q4 · 珍宝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不可传授的珍宝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佛陀的法义或许并非其最宝贵最神秘的东西。佛陀的彻悟纪事才是无法言说、不可传授的珍宝——这恰恰是他现在要去经验的，他现在才刚刚开始去经验的。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这也是今晚的规则：下面每一段原文，都是别人走过的路，不是标准答案。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法义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没人能通过法义得到解脱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Q5 · 皈依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如果有一套完美无缺的答案摆在你面前，你会皈依吗？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10896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前提：它真的没有漏洞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真实场景版——一份能解决你所有问题的工作、方法、师父。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Q5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我担忧我的「我」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沙门寻求弃绝于「我」，哦，世尊。假如我皈依于您，哦，世尊，我担忧我的「我」只是表面地、虚假地获得安宁，得到解脱。而事实上，我的「我」却仍在生存、壮大。因为，我会将法义，我的后来者，我对您的爱，以及僧团当作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他怕的不是学法，是怕「学法」变成新的「我」。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Q5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没人能通过法义得到解脱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哦，世尊佛陀，但愿您不怪罪我。」青年人道，「我并非为争辩与您交谈。您所言极是，辩辞微不足道。请容我再说：我未曾有刹那怀疑过您。未曾有刹那怀疑过您是佛陀，您已功德圆满。您已抵达无数婆罗门及婆罗门之子求索之巅峰。您已超拔死亡。您通过探索，求道，通过深观，禅修，通过认知，彻悟而非通过法义修成正果！——这就是我的想法，哦，世尊，没人能通过法义得到解脱！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他离开佛陀，不是因为不信，是因为太信。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觉醒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我要拜自己为师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Q6 · 不属于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有没有一个瞬间，你突然发现自己谁也不属于？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不是孤独，是没有身份可报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这一题不需要深聊，说出来就够。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Q6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他如此孤独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他如此孤独。多年来，他并未像现在这样意识到自己无家可归。从前，即便在最深的禅定中，他仍是父亲的儿子，高贵的婆罗门，一个修行之人。如今，他只是苏醒的悉达多，再不是别的什么人。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那年他二十几岁，刚离开佛陀，也刚离开家。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Q6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他属于哪里？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贵族属于贵族，手艺人属于手艺人，他们说同样的话，容身一处，分享生活。婆罗门要同婆罗门在一起。苦行者要在沙门中立足。即便归隐山林的隐士也不是独自一人，他们也有同道人，有归属。乔文达已皈依佛门，万千僧人是他的弟兄，他们着同样的僧服，信共同的信仰，说相同的话。可是他，悉达多，他属于哪里？和谁分享生活？说谁的话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Q6 · 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从那一刻起，他再不是谁的儿子、门徒、信徒。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只剩一个名字：悉达多。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世俗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亲口品尝尘世的一切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Q7 · 弯路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你生命里有没有一段「非走不可的弯路」？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走的时候知道不该走，但还是走完了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【待补：你的那一段，一句话——哪一年，做了什么，回来时多了什么】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Q7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这游戏叫做轮回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难道他们不是在无尽的游戏中游戏？为这游戏而活可有必要？不，没有必要！这游戏叫做轮回，一种孩童游戏，一种或许可爱的游戏。一次，两次，十次——难道要不停地游戏下去？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Q7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我的人生之路确实古怪曲折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他想，我的人生之路确实古怪曲折。少年时，我只知神明和献祭。青年时，我只知苦修、思考和禅定；我渴求梵天，崇拜永恒的阿特曼。壮年时，我追随忏悔者生活在林中，漠视肉体，忍受酷暑严寒和饥饿。之后我又奇迹般地与佛陀和他至高的法义相遇，关乎圆一世界的真理如血液般在我体内奔涌，但我又不得不告别佛陀及其伟大学说。我跟迦摩罗学《爱经》，跟迦摩施瓦弥学做生意。赚钱又输钱。我学会养尊处优，满足肉体。我失去精神家园，荒疏思想，忘记圆一。不是吗？在这漫长曲折的路上，一个男人成了孩子，一位思考者成了世人。然而这条路又十分美好，然而我胸中之鸣鸟尚未死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注意他用的词——不是「错误」，是「古怪曲折」。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Q7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亲口品尝尘世的一切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他想：「亲口品尝尘世的一切很好。尽管孩提时我已知道，淫乐和财富不属于善。我熟知已久，却刚刚经历，不仅用思想，还用眼睛、心灵和肉体经历。我庆幸我经历了它！」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知道和经历之间，隔着的正是那段「不堪的岁月」。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Q8 · 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明明得到了，为什么反而不会爱？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你有没有过「谁都不爱，只把爱当艺术」的时候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【待补：你的一个例子——得到了什么，为什么没接住】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Q8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情爱不能强夺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「哦，沙门是强壮的，他无所畏惧。他恐怕会强迫你，美丽的女人。他恐怕会强夺你，给你带来痛苦。」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勤学的悉达多，你要明白：情爱可以乞得，可以购买，可以受馈，也可在陋巷觅得，却唯独不能强夺。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Q8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你依然是个沙门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最好的情人。你比别人更强壮，更柔韧，更欲望强烈。你出色地学会我的艺术，悉达多。日后，待我年纪大些，我要有一个你的孩子。然而，亲爱的，你依然是个沙门。你并不爱我，也不爱任何人。难道不是吗？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「或许是。」悉达多疲惫地说，「我就像你。你也谁都不爱——否则你怎会将爱当作艺术经营？像你我这类人大概都不会爱。如孩童般的世人，才会爱。这是他们的秘密。」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全书最疼的一刀：你可以是全世界最好的情人，却谁都爱不了。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Q8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她长眠的脸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他呆坐着，凝视她长眠的脸，她衰老、疲惫，不再丰满的嘴唇，想起早年自己曾把它比作新鲜开裂的无花果。他呆坐着，凝视她苍白的脸，倦怠的皱纹，仿佛凝视自己苍白倦怠的脸。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最终，他们学会了爱——只是晚了一步。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河水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只有当下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Q9 · 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你听得见自己的河吗？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现在，全场安静 60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不要找意义，先听见。我会掐表。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Q9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对于河水来说只有当下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是的。」悉达多道，「我领悟到这个道理后，认出我的生活也是一条河。这条河用幻象，而非现实，隔开少年悉达多、成年悉达多和老年悉达多。悉达多的前世并非过去，死亡和重归梵天亦并非未来。没有过去，没有未来。一切都是本质和当下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Q9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你听见了河水的笑声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「你听见了河水的笑声。」瓦稣迪瓦道，「但你尚未听见全部声音。我们倾听吧，你会听到更多。」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悉达多加倍专注于倾听。父亲、自己和儿子的形象交汇。还有迦摩罗、乔文达、其他人，他们的形象交汇并融入河水，热切而痛苦地奔向目标。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听到一切，也听到轮回。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Q9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他归属其中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所有这自古有之的一切，悉达多一直熟视无睹。他从不在场。而现在，他归属其中。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禅宗那句「吃饭时吃饭，睡觉时睡觉」，说的就是「在场」这两个字。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儿子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没有人能替另一个人活着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Q10 · 放手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你对谁的爱，其实是「不肯放手」？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孩子、父母、伴侣，或者一个已经走了的人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【待补：你和父母或孩子之间的一件小事，一分钟能讲完的那种】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Q10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难道不是一种过失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我知道。你不强迫他，不打他，不控制他，因为你知道柔胜于刚，水胜于石，爱胜于暴。很好，我赞赏你。可你不强迫不责罚的主张，难道不是一种过失？难道你没有用爱束缚他？没有每天用善和忍，令他羞愧为难？你难道没有强迫这自大放肆的孩子，同两个视米为佳肴的老家伙住在茅舍里？老人的思想可不会与孩子相同。他们心境苍老平静，连步态都跟孩子不同。难道这一切不是对孩子的强迫和惩罚？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这段话是儿子说的——被爱的人，最清楚那份爱有多重。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Q10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人独自行过生命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独自行过生命，蒙受玷污，承担罪过，痛饮苦酒，寻觅出路。难道有人曾被父亲或老师一路庇护？亲爱的，你相信有人能避开这道路？或许小悉达多能，因为你爱他，你愿意保他免于苦难和失望？但是就算你替他舍命十次，恐怕也不能扭转他命运的一丝一毫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没有人能替另一个人活着，即使是自己的孩子。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Q10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如同父亲为他受苦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他记起年轻时曾如何迫使父亲答应他出门苦修，如何同父亲告别，如何离家，之后又再未回去。难道父亲不是为他受苦，如同他现在为儿子受苦？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他要放过的不是儿子，是当年那个离开父亲的自己。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智慧无法言传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Q11 · 最后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如果智慧无法言传，我们今晚坐在这里干什么？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先别急着回答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这是今晚最大的一个矛盾，也是最好的收尾。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Q11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智慧无法言传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悉达多道：「我有过思考，对，也有过认知。有时，一个时辰或一日，我被认知充满，如同人们在心中感知生命。有些认知很难与你分享。你看，我的乔文达，这就是我的认知：智慧无法言传。智者试图传授智慧，总像痴人说梦。」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知识可以分享，智慧无法分享，它可以被发现，被体验。智慧令人安详，智慧创造奇迹，但人们无法言说和传授智慧。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Q11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言语无益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对于隐匿的意义来说，言语无益。它总在言说中歪曲，变异，变蠢。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Q11 · 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我更看重「物」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坦率地说，较于思想，我更看重「物」。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同乔达摩信念一致。他怎会不了解爱。他熟稔人性的无常、空幻，却依然深爱并倾尽一生去助佑、教导世人。在我看来，在这位伟大的导师心中，爱事物胜于爱言辞。他的作为和生命重于他的法义。他的仪态重于言论。我认为他的伟大不在他的法义中、思想中，而在他的生命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他的答案是：别说了，去爱那块石头。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——《悉达多》 姜乙 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带走一个问题，而不是一个答案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今晚你带走的，最好是一个还没解决的问题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最后一句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悉达多的微笑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让他忆起一生中爱过的一切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 · 互动版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1"/>
          <p:cNvSpPr/>
          <p:nvPr/>
        </p:nvSpPr>
        <p:spPr>
          <a:xfrm>
            <a:off x="2095500" y="12065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6000" b="1">
                <a:solidFill>
                  <a:srgbClr val="FFFFFF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最后，祝你成为超人。</a:t>
            </a:r>
            <a:endParaRPr lang="zh-CN" sz="6000" b="1">
              <a:solidFill>
                <a:srgbClr val="FFFFFF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89" name="矩形 82"/>
          <p:cNvSpPr/>
          <p:nvPr/>
        </p:nvSpPr>
        <p:spPr>
          <a:xfrm>
            <a:off x="3365500" y="3149600"/>
            <a:ext cx="5461000" cy="698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600" b="1">
                <a:solidFill>
                  <a:srgbClr val="888888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在我的语境中有两层意思</a:t>
            </a:r>
            <a:endParaRPr lang="zh-CN" sz="3600" b="1">
              <a:solidFill>
                <a:srgbClr val="888888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90" name="矩形 83"/>
          <p:cNvSpPr/>
          <p:nvPr/>
        </p:nvSpPr>
        <p:spPr>
          <a:xfrm>
            <a:off x="3746500" y="3937000"/>
            <a:ext cx="4699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3400" b="1">
                <a:solidFill>
                  <a:srgbClr val="CCCCCC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在生活中游刃有余的人</a:t>
            </a:r>
            <a:endParaRPr lang="zh-CN" sz="3400" b="1">
              <a:solidFill>
                <a:srgbClr val="CCCCCC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91" name="矩形 84"/>
          <p:cNvSpPr/>
          <p:nvPr/>
        </p:nvSpPr>
        <p:spPr>
          <a:xfrm>
            <a:off x="1604645" y="4660900"/>
            <a:ext cx="8769985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3400" b="1">
                <a:solidFill>
                  <a:srgbClr val="999999"/>
                </a:solidFill>
                <a:latin typeface="方正雅意黑 GB18030L2" panose="02000500000000000000" charset="-122"/>
                <a:ea typeface="方正雅意黑 GB18030L2" panose="02000500000000000000" charset="-122"/>
                <a:cs typeface="方正雅意黑 GB18030L2" panose="02000500000000000000" charset="-122"/>
              </a:rPr>
              <a:t>「人应该是被超越的某种东西。」—— 尼采</a:t>
            </a:r>
            <a:endParaRPr lang="zh-CN" sz="3400" b="1">
              <a:solidFill>
                <a:srgbClr val="999999"/>
              </a:solidFill>
              <a:latin typeface="方正雅意黑 GB18030L2" panose="02000500000000000000" charset="-122"/>
              <a:ea typeface="方正雅意黑 GB18030L2" panose="02000500000000000000" charset="-122"/>
              <a:cs typeface="方正雅意黑 GB18030L2" panose="020005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WPS 表格</Application>
  <PresentationFormat/>
  <Paragraphs>366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9" baseType="lpstr">
      <vt:lpstr>Arial</vt:lpstr>
      <vt:lpstr>宋体</vt:lpstr>
      <vt:lpstr>Wingdings</vt:lpstr>
      <vt:lpstr>Arial</vt:lpstr>
      <vt:lpstr>Helvetica Neue</vt:lpstr>
      <vt:lpstr>微软雅黑</vt:lpstr>
      <vt:lpstr>方正雅意黑 GB18030L2</vt:lpstr>
      <vt:lpstr>PingFang SC</vt:lpstr>
      <vt:lpstr>Thonburi</vt:lpstr>
      <vt:lpstr>Calibri</vt:lpstr>
      <vt:lpstr>Helvetica Neue</vt:lpstr>
      <vt:lpstr>微软雅黑</vt:lpstr>
      <vt:lpstr>汉仪书宋二KW</vt:lpstr>
      <vt:lpstr>宋体</vt:lpstr>
      <vt:lpstr>Arial Unicode MS</vt:lpstr>
      <vt:lpstr>PingFang SC</vt:lpstr>
      <vt:lpstr>苹方-简</vt:lpstr>
      <vt:lpstr>MicrosoftYaHei</vt:lpstr>
      <vt:lpstr>ArialMT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你坐偏了</cp:lastModifiedBy>
  <cp:revision>17</cp:revision>
  <dcterms:created xsi:type="dcterms:W3CDTF">2026-10-23T03:56:00Z</dcterms:created>
  <dcterms:modified xsi:type="dcterms:W3CDTF">2026-10-23T03:56:00Z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EDF8503F81BBF1FF42BEA86A39D47C0F_42</vt:lpwstr>
  </property>
  <property fmtid="{D5CDD505-2E9C-101B-9397-08002B2CF9AE}" pid="3" name="KSOProductBuildVer">
    <vt:lpwstr>2052-12.1.28496.28496</vt:lpwstr>
  </property>
</Properties>
</file>