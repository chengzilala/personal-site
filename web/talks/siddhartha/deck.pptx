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343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39" r:id="rId69"/>
    <p:sldId id="340" r:id="rId70"/>
    <p:sldId id="341" r:id="rId71"/>
    <p:sldId id="342" r:id="rId72"/>
    <p:sldId id="274" r:id="rId73"/>
  </p:sldIdLst>
  <p:sldSz cx="12191365" cy="6858000" type="screen4x3"/>
  <p:notesSz cx="6858000" cy="9144000"/>
  <p:embeddedFontLst>
    <p:embeddedFont>
      <p:font typeface="方正雅意黑 GB18030L2" panose="02000500000000000000" charset="-122"/>
      <p:regular r:id="rId7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7" Type="http://schemas.openxmlformats.org/officeDocument/2006/relationships/font" Target="fonts/font1.fntdata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chesterlee.cn/" TargetMode="Externa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7552" y="914400"/>
            <a:ext cx="393192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207008"/>
            <a:ext cx="3602736" cy="4443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85232" y="2103120"/>
            <a:ext cx="5669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Helvetica Neue" panose="02000503000000020004"/>
              </a:rPr>
              <a:t>Chester Lee</a:t>
            </a:r>
            <a:endParaRPr sz="50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85232" y="3063240"/>
            <a:ext cx="5394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850" b="0">
                <a:solidFill>
                  <a:srgbClr val="CFCFCF"/>
                </a:solidFill>
                <a:latin typeface="PingFang SC"/>
              </a:rPr>
              <a:t>INTJ · 现居深圳</a:t>
            </a:r>
            <a:endParaRPr sz="1850" b="0">
              <a:solidFill>
                <a:srgbClr val="CFCFCF"/>
              </a:solidFill>
              <a:latin typeface="PingFang SC"/>
            </a:endParaRPr>
          </a:p>
          <a:p>
            <a:pPr algn="l">
              <a:lnSpc>
                <a:spcPct val="155000"/>
              </a:lnSpc>
            </a:pPr>
            <a:r>
              <a:rPr sz="1850" b="0">
                <a:solidFill>
                  <a:srgbClr val="CFCFCF"/>
                </a:solidFill>
                <a:latin typeface="PingFang SC"/>
              </a:rPr>
              <a:t>信息化PM × 独立开发者（AI 产品）</a:t>
            </a:r>
            <a:endParaRPr sz="1850" b="0">
              <a:solidFill>
                <a:srgbClr val="CFCFCF"/>
              </a:solidFill>
              <a:latin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85232" y="4224528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0">
                <a:solidFill>
                  <a:srgbClr val="A9A9A9"/>
                </a:solidFill>
                <a:latin typeface="PingFang SC"/>
                <a:hlinkClick r:id="rId2"/>
              </a:rPr>
              <a:t>https://chesterlee.cn/</a:t>
            </a:r>
            <a:endParaRPr sz="1550" b="0">
              <a:solidFill>
                <a:srgbClr val="A9A9A9"/>
              </a:solidFill>
              <a:latin typeface="PingFang SC"/>
              <a:hlinkClick r:id="rId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今晚的路线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01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203704"/>
            <a:ext cx="43571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这本书</a:t>
            </a:r>
            <a:endParaRPr sz="17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17236" y="2185415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1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2569464"/>
            <a:ext cx="4951476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243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02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862072"/>
            <a:ext cx="43571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青年与沙门</a:t>
            </a:r>
            <a:endParaRPr sz="17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17236" y="284378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08</a:t>
            </a:r>
            <a:endParaRPr sz="11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2960" y="3227832"/>
            <a:ext cx="4951476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8269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03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39"/>
            <a:ext cx="43571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与佛陀相遇</a:t>
            </a:r>
            <a:endParaRPr sz="17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17236" y="35021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16</a:t>
            </a:r>
            <a:endParaRPr sz="11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4951476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4106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04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178808"/>
            <a:ext cx="43571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觉醒</a:t>
            </a:r>
            <a:endParaRPr sz="17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17236" y="41605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24</a:t>
            </a:r>
            <a:endParaRPr sz="11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960" y="4544568"/>
            <a:ext cx="4951476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99431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05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4837175"/>
            <a:ext cx="43571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伽摩罗</a:t>
            </a:r>
            <a:endParaRPr sz="17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17236" y="48188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35</a:t>
            </a:r>
            <a:endParaRPr sz="11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22960" y="5202936"/>
            <a:ext cx="4951476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578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06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5495544"/>
            <a:ext cx="43571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三技</a:t>
            </a:r>
            <a:endParaRPr sz="17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317236" y="547725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40</a:t>
            </a:r>
            <a:endParaRPr sz="11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22960" y="5861304"/>
            <a:ext cx="4951476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8796" y="19659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07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68796" y="2203704"/>
            <a:ext cx="43571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河水</a:t>
            </a:r>
            <a:endParaRPr sz="17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863072" y="2185415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45</a:t>
            </a:r>
            <a:endParaRPr sz="11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68796" y="2569464"/>
            <a:ext cx="4951476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8796" y="26243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08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68796" y="2862072"/>
            <a:ext cx="43571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儿子</a:t>
            </a:r>
            <a:endParaRPr sz="17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863072" y="284378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53</a:t>
            </a:r>
            <a:endParaRPr sz="11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368796" y="3227832"/>
            <a:ext cx="4951476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8796" y="328269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09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68796" y="3520439"/>
            <a:ext cx="43571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乔文达</a:t>
            </a:r>
            <a:endParaRPr sz="17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863072" y="35021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58</a:t>
            </a:r>
            <a:endParaRPr sz="11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68796" y="3886200"/>
            <a:ext cx="4951476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8796" y="394106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10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68796" y="4178808"/>
            <a:ext cx="435711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一生</a:t>
            </a:r>
            <a:endParaRPr sz="17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863072" y="41605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66</a:t>
            </a:r>
            <a:endParaRPr sz="11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368796" y="4544568"/>
            <a:ext cx="4951476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01</a:t>
            </a:r>
            <a:endParaRPr sz="12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这本书</a:t>
            </a:r>
            <a:endParaRPr sz="5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一个德国人写的一场印度梦</a:t>
            </a:r>
            <a:endParaRPr sz="16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缘起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不是佛陀的故事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《悉达多》其实更大程度上是一部自传体小说，写的主要是作者自己的经历，不是佛陀的故事！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书名像佛经，内容其实是西方人的自我追寻。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作者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赫尔曼·黑塞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5430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1877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生于德国</a:t>
            </a:r>
            <a:endParaRPr sz="16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10543032" cy="389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传教士家庭，外祖父是印度学家。</a:t>
            </a:r>
            <a:endParaRPr sz="135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803779"/>
            <a:ext cx="105430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少年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先亲近佛法</a:t>
            </a:r>
            <a:endParaRPr sz="16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169539"/>
            <a:ext cx="10543032" cy="389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按自己西方人的思维理解佛法，未得明师指点。</a:t>
            </a:r>
            <a:endParaRPr sz="135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797046"/>
            <a:ext cx="105430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晚年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转向道家</a:t>
            </a:r>
            <a:endParaRPr sz="16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162806"/>
            <a:ext cx="10543032" cy="389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不解佛意、修行无果，晚年又喜欢上道家思想，也是有趣。</a:t>
            </a:r>
            <a:endParaRPr sz="135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1772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跟今天大多数人一样，我们在西方教育体系下成长，对自己的东西知道不多。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05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 · 译者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姜乙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5430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译本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《悉达多》</a:t>
            </a:r>
            <a:endParaRPr sz="16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10543032" cy="389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【待补：出版社 / 年份 / 版本】</a:t>
            </a:r>
            <a:endParaRPr sz="135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803779"/>
            <a:ext cx="105430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序言  </a:t>
            </a:r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「离别」</a:t>
            </a:r>
            <a:endParaRPr sz="16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169539"/>
            <a:ext cx="10543032" cy="389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译者序以「告别」串起全书。</a:t>
            </a:r>
            <a:endParaRPr sz="135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1772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【待补：译者背景一两句，左侧可配图】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06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 · 译者序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一场又一场告别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也在悉达多的步履中经历他的告别：告别双亲及家园，告别朋友及老师，告别佛陀，告别挚爱，告别旧我。这些残酷的告别或许是人生真相，或许是获得神性自我，获得对万物、对人、对世界更为广大的宽容与爱的必经之路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 姜乙 · 译者序</a:t>
            </a:r>
            <a:endParaRPr sz="10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07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02</a:t>
            </a:r>
            <a:endParaRPr sz="12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青年与沙门</a:t>
            </a:r>
            <a:endParaRPr sz="5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用尽方法，只为离开「我」</a:t>
            </a:r>
            <a:endParaRPr sz="16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青年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什么都有的年轻人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可是他，悉达多，却无法让自己喜悦，无法让自己略有兴致。他充满渴望的精神容器仍未盛满。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缺的那一块，就是「我」。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09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沙门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一切都是欺骗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遇见女人时目光冷淡，遇见城中穿着华美之人，嘴角流露出轻蔑。他见到商贩经商，君侯外出狩猎，服丧者哀嚎，娼妓出卖色相，医生救治病人，祭司定夺播种之日，情侣们相互爱抚，母亲们哺乳——这一切都让他不屑。一切都是欺骗，都散发着恶臭，谎言的恶臭。一切欲望、幸福和优美皆为虚幻。一切都在腐朽。世界是苦涩的。生活即是折磨。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书里给这一段下的判词，是「傲慢」。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10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 · 沙门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把「我」彻底征服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当“我”被彻底征服，当“我”消亡，当渴求和欲望在心中寂灭，那最终的、最深的非“我”存在，那个大秘密，必定觉醒。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彻底的压抑人性与欲望。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11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 · 沙门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千次摆脱，千次回来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9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悉达多从沙门处学到很多。他学会诸多克己之方法。他通过受苦，志愿受苦和战胜疼痛、饥饿、焦渴和疲惫，走向克己。他通过禅定，通过在一切表象前心神凝定走向克己。他学会诸多修炼之道。他曾千百次摆脱“我”。他曾整时整日停驻在无“我”中。这些修行均从“我”出发，终点却总是回归于“我”。尽管悉达多千百次弃绝“我”，逗留在虚无中，化为动物、石头，回归却不可避免。重归于“我”无法摆脱。在阳光中、月华下，在遮荫处和雨中，他重新成为“我”，成为悉达多，重新忍受轮回赋予的折磨。</a:t>
            </a:r>
            <a:endParaRPr sz="19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这么多方法，仍然总是回到「我」。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12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05 · 沙门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禅定不过是逃避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禅定是什么？什么是脱离肉体？斋戒是什么？什么是屏息敛气？那不过是逃避‘我’，是暂时从‘我’的折磨中逃出来，是对生命的虚无和痛苦的暂时麻醉。这种逃避、麻醉，即便是驱牛者也能在客栈中找到。他只消喝上几杯米酒或发酵的椰子奶就能忘掉自己。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禅定。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13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06 · 觉醒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我们只学了些迷惑自己的把戏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哦，乔文达，我想，可能所有沙门都无法证悟涅槃。我们只寻得安慰、麻醉，我们只学了些迷惑自己的把戏。我们根本没有找到那条道中之道。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14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07 · 觉醒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人无法学会任何东西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哦，乔文达，人无法学会任何东西！我想，万物中根本没有我们称之为‘修习’的东西。哦，我的朋友，只有一种知识，它无处不在，它就是阿特曼。它存在于‘我’中，存在于‘你’中，存在于一切中。因此我开始相信：这种知识最恼人的敌人莫过于求知欲和修习。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15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03</a:t>
            </a:r>
            <a:endParaRPr sz="12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与佛陀相遇</a:t>
            </a:r>
            <a:endParaRPr sz="5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没人能通过法义得到解脱</a:t>
            </a:r>
            <a:endParaRPr sz="16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法义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宗教到底为了什么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宗教的本质，并非为求知好学之人阐释世界。它另有他图；它的宗旨乃是济拔苦难。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 乔达摩</a:t>
            </a:r>
            <a:endParaRPr sz="10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17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提问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一条完美的链上，有一道缝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5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悉达多道：“世尊佛陀，您的法义令我钦佩。它清晰无瑕，证据确凿；您将世界以一条充满因果的永恒的链，一条从未有过任何瑕疵的链，展现在世人面前。世界从未如此清晰，从未如此不可辩驳地被呈示出来。婆罗门如若聆听您的法义，看到这个完满融通的世界，这个无瑕、清澈如水晶、不依赖偶然、不决于诸神的世界，必定心潮澎湃。”</a:t>
            </a:r>
            <a:endParaRPr sz="1500" b="0">
              <a:solidFill>
                <a:srgbClr val="ECECEC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5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“无论世界是善是恶，无论生命自身是苦是乐——这或许悬而未决，也并非最为本质——但是世界的统一，所有事件的休戚相关，大小事物席卷于同一潮流中，起源于同一起源，遵循同一生成及灭亡的律法，已从您完满的宣讲中得到阐明。哦，功德圆满的佛陀，只是，在您的法义中，在统一、逻辑完善的万物中却存在一个断裂之处。这一小小的缝隙让这个统一的世界呈现出些许陌生、些许新奇；呈现出些许迥异于从前，且无法被证实的东西：那就是您的超世拔俗，获得解脱的法义。这个小漏洞，这个小断裂，让永恒统一的世界法则变得破碎，失去效力。但愿您能宽恕我所提出的异议。”</a:t>
            </a:r>
            <a:endParaRPr sz="1500" b="0">
              <a:solidFill>
                <a:srgbClr val="ECE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18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 · 回答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法义的宗旨是济拔苦难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乔达摩安静地听着，纹丝未动。这位功德圆满的觉者以慈蔼、谦和而清晰的声音道：“你聆听了法义。哦，婆罗门之子，难得你深深地思索法义。你在法义中发现了一个漏洞，一个缺口。愿你能继续深入地思考。但是你这勤勉之人，要警惕多谋善断及口舌之辩。无论辩辞美或丑，聪慧或愚蠢，总有人赞许，有人鄙夷。你从我处所听之法义并非我之辩辞。它的宗旨并非为求知好学之人阐释世界。它另有他图；它的宗旨乃是济拔苦难。这就是乔达摩的法义，别无其他。”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19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 · 反驳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彻悟，而非通过法义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5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“哦，世尊佛陀，但愿您不怪罪我。”青年人道，“我并非为争辩与您交谈。您所言极是，辩辞微不足道。请容我再说：我未曾有刹那怀疑过您。未曾有刹那怀疑过您是佛陀，您已功德圆满。您已抵达无数婆罗门及婆罗门之子求索之巅峰。您已超拔死亡。您通过探索，求道，通过深观，禅修，通过认知，彻悟而非通过法义修成正果！——这就是我的想法，哦，世尊，没人能通过法义得到解脱！”</a:t>
            </a:r>
            <a:endParaRPr sz="1500" b="0">
              <a:solidFill>
                <a:srgbClr val="ECECEC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5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“哦，世尊佛陀，您从未以言辞或法义宣讲您在证觉成道之际所发生的事！世尊佛陀的法义多教人诸善奉行，诸恶莫作。在明晰又可敬的法义中不包含世尊的历程，那个您独自超越众生的秘密。这就是我在聆听法义时思考和认识的。这就是我为何要继续我的求道之路——并非去寻找更好的法义，我知道它并不存在——而是为摆脱所有圣贤及法义，独自去实现我的目标，或者去幻灭。我将常常怀想今天，哦，世尊佛陀，我将怀想此刻，这个我亲眼见到圣人的时刻。”</a:t>
            </a:r>
            <a:endParaRPr sz="1500" b="0">
              <a:solidFill>
                <a:srgbClr val="ECE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真正的开悟，不是教义，而是真实的经历。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20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05 · 一句话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使唐僧成为唐僧的，不是经书</a:t>
            </a:r>
            <a:endParaRPr sz="46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而是那条取经的路。</a:t>
            </a:r>
            <a:endParaRPr sz="17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21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06 · 担忧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我怕「我」只是换了件衣服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沙门寻求弃绝于‘我’，哦，世尊。假如我皈依于您，哦，世尊，我担忧我的‘我’只是表面地、虚假地获得安宁，得到解脱。而事实上，我的‘我’却仍在生存、壮大。因为，我会将法义，我的后来者，我对您的爱，以及僧团当作我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若见诸相非相，即见如来。不住相。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22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07 · 告别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佛陀劫掠了我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佛陀劫掠了我。”悉达多想，“他劫掠了我，但他馈赠得更多。他夺走了我的朋友，那曾经信奉我，如今信奉他的朋友；那曾经是我的影子，如今是乔达摩的影子的朋友。而他所馈赠的，则是悉达多，是我的自我。”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乔文达的离开。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23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04</a:t>
            </a:r>
            <a:endParaRPr sz="12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觉醒</a:t>
            </a:r>
            <a:endParaRPr sz="5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我要拜自己为师</a:t>
            </a:r>
            <a:endParaRPr sz="16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觉醒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我对自己一无所知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对自己一无所知。一直以来，悉达多于我极为陌生。只因我害怕自己，逃避自己！我寻找阿特曼，寻找大梵，我曾渴望的是‘我’被肢解、蜕变，以便在陌生的内在发现万物核心，发现阿特曼，发现生命，发现神性的终极之物。可在这条路上，我却迷失了自己。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25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转身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我要拜自己为师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无论是《瑜伽吠陀》《阿达婆吠陀》，还是其他任何教义我都不再修习。我不再苦修。我要拜自己为师。我要认识自己，认识神秘的悉达多。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26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 · 世界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意义就在事物当中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它就在这儿的灿黄、湛蓝中，在那儿的天空、森林中，在悉达多中。意义和本质绝非隐藏在事物背后，它们就在事物当中，在一切事物当中。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27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 · 读书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我把世界当成一本书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如果一个人要在一本书中探寻意义，他便会逐字逐句去阅读它，研习它，爱它；他不会忽视每一个词、每一个字，把它们看作表象，看作偶然和毫无价值的皮毛。可我哪，我这个有意研读世界之书、自我存在之书的人，却预先爱上一个臆想的意义。我忽视了书中的语词。我把现象世界看作虚妄。我视眼目所见、唇齿所尝的仅为没有价值而表面的偶然之物。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28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05 · 孤独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他再不是别的什么人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他如此孤独。多年来，他并未像现在这样意识到自己无家可归。从前，即便在最深的禅定中，他仍是父亲的儿子，高贵的婆罗门，一个修行之人。如今，他只是苏醒的悉达多，再不是别的什么人。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不再是谁的儿子、门徒、信徒——从这一刻起，是一次最深的离开。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29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06 · 归属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他属于哪里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贵族属于贵族，手艺人属于手艺人，他们说同样的话，容身一处，分享生活。婆罗门要同婆罗门在一起。苦行者要在沙门中立足。即便归隐山林的隐士也不是独自一人，他们也有同道中人，有归属。乔文达已皈依佛门，万千僧人是他的弟兄，他们着同样的僧服，信共同的信仰，说相同的话。可是他，悉达多，他属于哪里？和谁分享生活？说谁的话？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30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07 · 上路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再也不回去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这是苏醒的最后颤栗，分娩的最后痉挛。他重新迈开步子，疾步前行。他再也不回家，再也不回父亲那里，再不回去。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31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08 · 看见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世界突然变得好看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4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路上，悉达多步步收获新知。世界已然变化，他的心为之陶醉。他看见太阳从密林覆盖的山峦间升起，又从远处的棕榈滩落下。他看见星罗棋布的幽蓝夜空中，畅游着一弯小船般的新月。他看见森林、群星、动物、云朵、彩虹、岩石、野草、花团、小溪与河流。清晨的灌木丛中闪耀的露珠。远山微蓝苍白。鸟儿和蜜蜂歌唱。微风吹过麦田窸窸窣窣。这千姿百态姹紫嫣红的一切历来如此。日月相推，河流奔涌，蜜蜂嗡嗡，亘古不变。但在从前的悉达多眼中，它们不过是魅惑的、稍纵即逝的雾霭。以怀疑熟视，这一切注定被思想洞悉，一无是处。因为它们并非本质。本质位于可见世界的彼岸。</a:t>
            </a:r>
            <a:endParaRPr sz="1400" b="0">
              <a:solidFill>
                <a:srgbClr val="ECECEC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4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自由的双眼流连于尘世，他看见且清晰地辨明可见世界。他不再问询本质，瞄准彼岸，他在世间寻找故乡。如若人能毫无希求，质朴而天真无邪地看待世界，世界何其隽美！月亮和星辰美，小溪与河岸美，森林、岩石、山羊和金龟子，花朵和蝴蝶都很美。当人单纯、觉醒，不疑专注地穿行于人间，世界何其隽美又妩媚！别样的烈日在头顶燃烧，浓荫下别样凉爽宜人。小溪和雨水，南瓜和香蕉别样甘甜味美。白日很短，黑夜很短，时辰飞逝如海面之帆；帆船满载珍宝和欢悦。</a:t>
            </a:r>
            <a:endParaRPr sz="1400" b="0">
              <a:solidFill>
                <a:srgbClr val="ECE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32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09 · 在场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他从不在场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所有这自古有之的一切，悉达多一直熟视无睹。他从不在场。而现在，他归属其中。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禅宗公案里那句「吃饭时吃饭，睡觉时睡觉」——真正觉察一切。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33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10 · 两种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思想与感官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如果一个人扼杀了感官意义上的偶然之我，却喂养思想意义上博学多能的偶然之我，他是不会寻得自我的。两者，思想和感官，均为美的事物；两者背后均隐藏终极意义；两者都值得倾听，值得参与；两者均不容蔑视亦不必高估。自两者中均可听到内在的秘密之声。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感官直指体验，思想对应意识思考。想到自己跑步——肉体直接的感受，也是身心的修炼。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34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05</a:t>
            </a:r>
            <a:endParaRPr sz="12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伽摩罗</a:t>
            </a:r>
            <a:endParaRPr sz="5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爱是一门要学的艺术</a:t>
            </a:r>
            <a:endParaRPr sz="16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初见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我不再垂下眼帘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哦，迦摩罗！我来，是为告诉你这个。你是让悉达多并未低垂眼帘而与之交谈的第一个女人。今后，如若我遇见漂亮女人，也不会再垂下眼帘。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36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界线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情爱不能强夺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勤学的悉达多，你要明白：情爱可以乞得，可以购买，可以受馈，也可在陋巷觅得，却唯独不能强夺。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48471" y="5632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0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—— 迦摩罗</a:t>
            </a:r>
            <a:endParaRPr sz="10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37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 · 学习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他成了她的学生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她教导他，爱侣在交欢后不得倏忽分离。彼此仍要相互赞叹、抚慰。这样，双方才不会因过度性满足，而产生厌倦、落寞，产生辱弄或被辱弄的不快感受。在美丽聪慧的艺术家处，悉达多度过了绝妙时光。他成为她的学生、情人、朋友。对于现在的悉达多，生活的意义和价值是能和迦摩罗在一起，而绝非迦摩施瓦弥的生意。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38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 · 一句话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如孩童般的世人，才会爱</a:t>
            </a:r>
            <a:endParaRPr sz="46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像你我这类人，大概都不会爱。这是他们的秘密。</a:t>
            </a:r>
            <a:endParaRPr sz="17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39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06</a:t>
            </a:r>
            <a:endParaRPr sz="12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三技</a:t>
            </a:r>
            <a:endParaRPr sz="5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我会思考。我会等待。我会斋戒。</a:t>
            </a:r>
            <a:endParaRPr sz="16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三技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我会思考。我会等待。我会斋戒。</a:t>
            </a:r>
            <a:endParaRPr sz="46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这是悉达多全部的行李。</a:t>
            </a:r>
            <a:endParaRPr sz="17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41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石子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目标会指引他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你会愿意的。你看，迦摩罗，如果你将一粒石子投入水中，石子会沿着最短的路径沉入水底。恰如悉达多有了目标并下定决心。悉达多什么都不做，他等待、思考、斋戒。他穿行于尘世万物间正如石子飞入水底——不必费力，无需挣扎；他自会被指引，他任凭自己沉落。目标会指引他，因为他禁止任何干扰目标的事情进入他的灵魂。这是悉达多做沙门时学到的。愚人们称其为魔法。愚人以为此乃魔鬼所为。其实，魔鬼无所作为，魔鬼并不存在。每个人都能施展法术。每个人都能实现目标，如果他会思考、等待、斋戒。”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42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 · 斋戒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斋戒极好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斋戒极好，先生。对于没有食物的人，斋戒最为明智。假如悉达多没学过斋戒，他今天就必须寻找活计。不论在你这里，还是别处。饥饿迫使他行动。而事实上，悉达多能安静地等待。他从不焦急，从不陷于窘迫。即便长时间被饥饿围困，他仍能藐视饥饿。因此，先生，斋戒极好。”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对物质欲望的处置方式。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43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 · 游戏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这游戏叫轮回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难道他们不是在无尽的游戏中游戏？为这游戏而活可有必要？不，没有必要！这游戏叫做轮回，一种孩童游戏，一种或许可爱的游戏。一次，两次，十次——难道要不停地游戏下去？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44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07</a:t>
            </a:r>
            <a:endParaRPr sz="12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河水</a:t>
            </a:r>
            <a:endParaRPr sz="5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一切都会重来</a:t>
            </a:r>
            <a:endParaRPr sz="16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告别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一切都会重来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“你相信我会再来？”悉达多好奇地问。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“准会。这也是我跟河水学到的：一切都会重来！你也是，沙门。你会再来。祝福你！你的友谊就是对我的犒赏。愿你在祭奉诸神时想到我。”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46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秘密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永远是这条河，却时刻更新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今天，他从河水的秘密中获悉一个撼动灵魂的秘密。他看见河水不懈奔流，却总在此处。永远是这条河，却时刻更新！哦，这谁能领悟，谁又能懂得！他不能。他只感到河水激起他遥远的记忆，激起神的声音。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学会倾听。船夫是河水的人格化显形。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47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 · 倾听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船夫最大的美德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瓦稣迪瓦专注地倾听。悉达多的出身和童年，苦学与探求，欢乐与困顿。船夫最大的美德是倾听：他乃少数擅长倾听之人。即便默不作声，讲述者也能感知他在安静、坦诚、满怀期待地倾听。他既不褒扬亦不挑剔，只是倾听。悉达多清楚，能向这样一位倾听者倾诉自己的生活、渴望与烦忧是何等幸运。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48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 · 老师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我跟河水学会倾听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你自会学到。”瓦稣迪瓦道，“却不是跟我。我跟河水学会倾听，你也该跟它学。河水无所不知，求教河水你可学会一切。你瞧，你已学会足履实地，学会沉寂并向深处探寻。富有而高贵的悉达多要成为摆渡人。博学的婆罗门悉达多要成为船夫。这也是河水所示。你还会跟河水学会别的东西。”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49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05 · 渡人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河是障碍，也是圣化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渡过千万人过河，他们将我的河视作旅途中的障碍。他们出门赚钱、做生意、出席婚礼或去进香，而这条河挡了他们的路。船夫要帮他们迅速渡过障碍。对于这些人中为数不多的四五人来说，河水却并非障碍，他们凝神听水。同我一样，河水在他们心中圣化。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人世要经历的一切，有人视作障碍，有人只当是经历。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50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06 · 当下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生活也是一条河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是的。”悉达多道，“我领悟到这个道理后，认出我的生活也是一条河。这条河用幻象，而非现实，隔开少年悉达多、成年悉达多和老年悉达多。悉达多的前世并非过去，死亡和重归梵天亦并非未来。没有过去，没有未来。一切都是本质和当下。”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51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07 · 全部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他听见了全部声音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32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5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悉达多加倍专注于倾听。父亲、自己和儿子的形象交汇。还有迦摩罗、乔文达、其他人，他们的形象交汇并融入河水，热切而痛苦地奔向目标。河水咏唱着，满载渴望，满载燃烧的苦痛和无法满足的欲望，奔向目标。悉达多看见由他自己，他热爱的、认识的人，由所有人组成的河水奔涌着，浪花翻滚，痛苦地奔向多个目标，奔向瀑布、湖泊、湍流、大海；抵达目标，又奔向新的目标。水蒸腾，升空，化作雨，从天而降，又变成泉水、小溪、河流，再次融汇，再次奔涌。然而渴求之音有所改变，依旧呼啸，依旧满载痛苦和寻觅，其他声音，喜与悲、善与恶、笑与哀之声，成千上万种声音却加入进来。</a:t>
            </a:r>
            <a:endParaRPr sz="1500" b="0">
              <a:solidFill>
                <a:srgbClr val="ECE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5880" y="5358384"/>
            <a:ext cx="45720" cy="2377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5303520"/>
            <a:ext cx="939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听到一切，也听到轮回。</a:t>
            </a:r>
            <a:endParaRPr sz="13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52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08</a:t>
            </a:r>
            <a:endParaRPr sz="12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儿子</a:t>
            </a:r>
            <a:endParaRPr sz="5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没有人能替另一个人活着</a:t>
            </a:r>
            <a:endParaRPr sz="16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忍耐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他想用善意赢得孩子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他不强迫他，而是为他做事，把最好的留给他。他希望善意的忍耐能慢慢赢得孩子的心。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54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责问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难道你没有用爱束缚他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我知道。你不强迫他，不打他，不控制他，因为你知道柔胜于刚，水胜于石，爱胜于暴。很好，我赞赏你。可你不强迫不责罚的主张，难道不是一种过失？难道你没有用爱束缚他？没有每天用善和忍，令他羞愧为难？你难道没有强迫这自大放肆的孩子，同两个视米为佳肴的老家伙住在茅舍里？老人的思想可不会与孩子相同。他们心境苍老平静，连步态都跟孩子不同。难道这一切不是对孩子的强迫和惩罚？”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55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 · 命运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没有人能被一路庇护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独自行过生命，蒙受玷污，承担罪过，痛饮苦酒，寻觅出路。难道有人曾被父亲或老师一路庇护？亲爱的，你相信有人能避开这道路？或许小悉达多能，因为你爱他，你愿意保他免于苦难和失望？但是就算你替他舍命十次，恐怕也不能扭转他命运的一丝一毫！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56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 · 世人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他成了完全的世人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因为比认知更强烈的是他对孩子的爱，他的柔情，他对失去孩子的恐惧。可是自从儿子出现，他悉达多却成了完全的世人。对儿子盲目的爱，是一种极为人性的激情。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57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09</a:t>
            </a:r>
            <a:endParaRPr sz="12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乔文达</a:t>
            </a:r>
            <a:endParaRPr sz="5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智慧无法言传</a:t>
            </a:r>
            <a:endParaRPr sz="16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探求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探求者错过眼前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一个探求之人，”悉达多道，“往往只关注探求的事物。他一无所获，一无所纳。因为他一心想着探求，被目的左右。探求意味着拥有目标。而发现则意味自由、敞开、全无目的。可敬的人，你或许确实是位探索者。但你却因努力追求目标，而错过了些眼前事物。”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59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智慧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知识可以分享，智慧不能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知识可以分享，智慧无法分享，它可以被发现，被体验。智慧令人安详，智慧创造奇迹，但人们无法言说和传授智慧。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60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 · 圆满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每一瞬间皆为圆满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我的朋友，世界并非不圆满。世界并非徐缓地行进在通向圆满之路：不，世间的每一瞬间皆为圆满。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61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 · 片面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真的反面同样真实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真的反面同样真实！也就是说，只有片面的真才得以以言辞彰显。可以思想和言说的一切都是片面的，是局部，都缺乏整体、圆满、统一。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62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05 · 接受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爱它，属于它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我不再将这个世界与我所期待的，塑造的圆满世界比照，而是接受这个世界，爱它，属于它。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63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06 · 物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我更看重「物」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坦率地说，较于思想，我更看重‘物’。我同乔达摩信念一致。他怎会不了解爱。他熟稔人性的无常、空幻，却依然深爱并倾尽一生去助佑、教导世人。在我看来，在这位伟大的导师心中，爱事物胜于爱言辞。他的作为和生命重于他的法义。他的仪态重于言论。我认为他的伟大不在他的法义中、思想中，而在他的生命中。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64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07 · 言辞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涅槃只是个言辞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于隐匿的意义来说，言语无益。它总在言说中歪曲，变异，变蠢。或许我想说，我爱石头、河水，爱所有我们可见并可以求教之物。我爱一块石头，乔文达，爱一棵树或一块树皮。这些是物，可爱之物。但我不爱言辞，学说于我毫无价值。它们没有力，没有柔，没有颜色，没有棱角，没有气味和味道。作为言辞，它一无所有。或许正是言辞阻碍你获得安宁。因为救赎与美德，轮回与涅槃也只是言辞。世上并无涅槃，涅槃只是个言辞。</a:t>
            </a:r>
            <a:endParaRPr sz="20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65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521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74519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PART 10</a:t>
            </a:r>
            <a:endParaRPr sz="120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692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一生</a:t>
            </a:r>
            <a:endParaRPr sz="5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一条必须走的路</a:t>
            </a:r>
            <a:endParaRPr sz="16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01 · 回望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我的人生之路古怪曲折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500" b="0">
                <a:solidFill>
                  <a:srgbClr val="ECECEC"/>
                </a:solidFill>
                <a:latin typeface="PingFang SC"/>
                <a:ea typeface="PingFang SC"/>
                <a:cs typeface="PingFang SC"/>
              </a:rPr>
              <a:t>他想，我的人生之路确实古怪曲折。少年时，我只知神明和献祭。青年时，我只知苦修、思考和禅定；我渴求梵天，崇拜永恒的阿特曼。壮年时，我追随忏悔者生活在林中，漠视肉体，忍受酷暑严寒和饥饿。之后我又奇迹般地与佛陀和他至高的法义相遇，关乎圆一世界的真理如血液般在我体内奔涌，但我又不得不告别佛陀及其伟大学说。我跟迦摩罗学《爱经》，跟迦摩施瓦弥学做生意。赚钱又输钱。我学会养尊处优，满足肉体。我失去精神家园，荒疏思想，忘记圆一。不是吗？在这漫长曲折的路上，一个男人成了孩子，一位思考者成了世人。然而这条路又十分美好，然而我胸中之鸣鸟尚未死去。这是怎样的路！为重新成为孩子，为从头再来，我必须变蠢、习恶、犯错。必须经历厌恶、失望、痛苦。可我的心赞许我走这条路，我的眼睛为此欢笑。为收获恩宠，重新听见“唵”，为再次酣睡，适时醒来，我必须走投无路，堕入深渊，直至动了愚蠢的轻生之念。为了重新找到内在的阿特曼，我必须先成为愚人。为了再活，我必须犯罪。这条路还会引我去向何方？它如此古怪，泥泞不堪，或许是个旋回。它自便吧，我愿随它走。</a:t>
            </a:r>
            <a:endParaRPr sz="1500" b="0">
              <a:solidFill>
                <a:srgbClr val="ECE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67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02 · 品尝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不只思想，还有肉体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543032" cy="4261104"/>
          </a:xfrm>
          <a:prstGeom prst="roundRect">
            <a:avLst>
              <a:gd name="adj" fmla="val 5000"/>
            </a:avLst>
          </a:prstGeom>
          <a:solidFill>
            <a:srgbClr val="47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10512"/>
            <a:ext cx="9537192" cy="389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他想：“亲口品尝尘世的一切很好。尽管孩提时我已知道，淫乐和财富不属于善。我熟知已久，却刚刚经历，不仅用思想，还用眼睛、心灵和肉体经历。我庆幸我经历了它！”</a:t>
            </a:r>
            <a:endParaRPr sz="26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68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30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03 · 路线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他走过的路</a:t>
            </a:r>
            <a:endParaRPr sz="3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6040" y="1920240"/>
            <a:ext cx="10972" cy="324612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64892" y="1883664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少年</a:t>
            </a:r>
            <a:endParaRPr sz="12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80360" y="1792224"/>
            <a:ext cx="834847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只知神明和献祭。</a:t>
            </a:r>
            <a:endParaRPr sz="15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Oval 8"/>
          <p:cNvSpPr/>
          <p:nvPr/>
        </p:nvSpPr>
        <p:spPr>
          <a:xfrm>
            <a:off x="2564892" y="2347395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92531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青年</a:t>
            </a:r>
            <a:endParaRPr sz="12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80360" y="2255955"/>
            <a:ext cx="834847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苦修、思考、禅定，渴求梵天。</a:t>
            </a:r>
            <a:endParaRPr sz="15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2564892" y="2811126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5626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沙门</a:t>
            </a:r>
            <a:endParaRPr sz="12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80360" y="2719686"/>
            <a:ext cx="834847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林中苦行，漠视肉体。</a:t>
            </a:r>
            <a:endParaRPr sz="15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2564892" y="3274858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1999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佛陀</a:t>
            </a:r>
            <a:endParaRPr sz="12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80360" y="3183418"/>
            <a:ext cx="834847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与他相遇，又与他告别。</a:t>
            </a:r>
            <a:endParaRPr sz="15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2564892" y="3738589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83725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尘世</a:t>
            </a:r>
            <a:endParaRPr sz="12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80360" y="3647149"/>
            <a:ext cx="834847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迦摩罗与商海，赚钱又输钱。</a:t>
            </a:r>
            <a:endParaRPr sz="15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564892" y="4202321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47457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河边</a:t>
            </a:r>
            <a:endParaRPr sz="12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80360" y="4110881"/>
            <a:ext cx="834847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摆渡、倾听，失去儿子。</a:t>
            </a:r>
            <a:endParaRPr sz="15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2564892" y="466605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111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老去</a:t>
            </a:r>
            <a:endParaRPr sz="12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80360" y="4574612"/>
            <a:ext cx="834847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与乔文达重逢，微笑。</a:t>
            </a:r>
            <a:endParaRPr sz="15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5532120"/>
            <a:ext cx="101772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C8A464"/>
                </a:solidFill>
                <a:latin typeface="PingFang SC"/>
                <a:ea typeface="PingFang SC"/>
                <a:cs typeface="PingFang SC"/>
              </a:rPr>
              <a:t>这条路古怪、泥泞，或许是个旋回。</a:t>
            </a:r>
            <a:endParaRPr sz="1400" b="0">
              <a:solidFill>
                <a:srgbClr val="C8A464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69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04 · 结尾</a:t>
            </a:r>
            <a:endParaRPr sz="10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4303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他微笑了</a:t>
            </a:r>
            <a:endParaRPr sz="46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1463040" cy="914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90088"/>
            <a:ext cx="9628632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1000"/>
              </a:spcAft>
            </a:pPr>
            <a:r>
              <a:rPr sz="1700" b="0">
                <a:solidFill>
                  <a:srgbClr val="B5B5B5"/>
                </a:solidFill>
                <a:latin typeface="PingFang SC"/>
                <a:ea typeface="PingFang SC"/>
                <a:cs typeface="PingFang SC"/>
              </a:rPr>
              <a:t>那微笑，让他忆起一生中爱过的、宝贵和神圣的一切。</a:t>
            </a:r>
            <a:endParaRPr sz="1700" b="0">
              <a:solidFill>
                <a:srgbClr val="B5B5B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3032" cy="9144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7336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悉达多读书会　·　Chester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94392" y="63733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F8F8F"/>
                </a:solidFill>
                <a:latin typeface="PingFang SC"/>
                <a:ea typeface="PingFang SC"/>
                <a:cs typeface="PingFang SC"/>
              </a:rPr>
              <a:t>70</a:t>
            </a:r>
            <a:endParaRPr sz="950" b="0">
              <a:solidFill>
                <a:srgbClr val="8F8F8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1"/>
          <p:cNvSpPr/>
          <p:nvPr/>
        </p:nvSpPr>
        <p:spPr>
          <a:xfrm>
            <a:off x="2095500" y="12065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6000" b="1">
                <a:solidFill>
                  <a:srgbClr val="FFFFFF"/>
                </a:solidFill>
                <a:latin typeface="方正雅意黑 GB18030L2" panose="02000500000000000000" charset="-122"/>
                <a:ea typeface="方正雅意黑 GB18030L2" panose="02000500000000000000" charset="-122"/>
              </a:rPr>
              <a:t>最后，祝你成为超人。</a:t>
            </a:r>
            <a:endParaRPr lang="zh-CN" sz="6000" b="1">
              <a:solidFill>
                <a:srgbClr val="FFFFFF"/>
              </a:solidFill>
              <a:latin typeface="方正雅意黑 GB18030L2" panose="02000500000000000000" charset="-122"/>
              <a:ea typeface="方正雅意黑 GB18030L2" panose="02000500000000000000" charset="-122"/>
            </a:endParaRPr>
          </a:p>
        </p:txBody>
      </p:sp>
      <p:sp>
        <p:nvSpPr>
          <p:cNvPr id="89" name="矩形 82"/>
          <p:cNvSpPr/>
          <p:nvPr/>
        </p:nvSpPr>
        <p:spPr>
          <a:xfrm>
            <a:off x="3365500" y="3149600"/>
            <a:ext cx="5461000" cy="698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600" b="1">
                <a:solidFill>
                  <a:srgbClr val="888888"/>
                </a:solidFill>
                <a:latin typeface="方正雅意黑 GB18030L2" panose="02000500000000000000" charset="-122"/>
                <a:ea typeface="方正雅意黑 GB18030L2" panose="02000500000000000000" charset="-122"/>
              </a:rPr>
              <a:t>在我的语境中有两层意思</a:t>
            </a:r>
            <a:endParaRPr lang="zh-CN" sz="3600" b="1">
              <a:solidFill>
                <a:srgbClr val="888888"/>
              </a:solidFill>
              <a:latin typeface="方正雅意黑 GB18030L2" panose="02000500000000000000" charset="-122"/>
              <a:ea typeface="方正雅意黑 GB18030L2" panose="02000500000000000000" charset="-122"/>
            </a:endParaRPr>
          </a:p>
        </p:txBody>
      </p:sp>
      <p:sp>
        <p:nvSpPr>
          <p:cNvPr id="90" name="矩形 83"/>
          <p:cNvSpPr/>
          <p:nvPr/>
        </p:nvSpPr>
        <p:spPr>
          <a:xfrm>
            <a:off x="3746500" y="3937000"/>
            <a:ext cx="4699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/>
            <a:r>
              <a:rPr lang="zh-CN" sz="3400" b="1">
                <a:solidFill>
                  <a:srgbClr val="CCCCCC"/>
                </a:solidFill>
                <a:latin typeface="方正雅意黑 GB18030L2" panose="02000500000000000000" charset="-122"/>
                <a:ea typeface="方正雅意黑 GB18030L2" panose="02000500000000000000" charset="-122"/>
              </a:rPr>
              <a:t>在生活中游刃有余的人</a:t>
            </a:r>
            <a:endParaRPr lang="zh-CN" sz="3400" b="1">
              <a:solidFill>
                <a:srgbClr val="CCCCCC"/>
              </a:solidFill>
              <a:latin typeface="方正雅意黑 GB18030L2" panose="02000500000000000000" charset="-122"/>
              <a:ea typeface="方正雅意黑 GB18030L2" panose="02000500000000000000" charset="-122"/>
            </a:endParaRPr>
          </a:p>
        </p:txBody>
      </p:sp>
      <p:sp>
        <p:nvSpPr>
          <p:cNvPr id="91" name="矩形 84"/>
          <p:cNvSpPr/>
          <p:nvPr/>
        </p:nvSpPr>
        <p:spPr>
          <a:xfrm>
            <a:off x="1604645" y="4660900"/>
            <a:ext cx="8769985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/>
            <a:r>
              <a:rPr lang="zh-CN" sz="3400" b="1">
                <a:solidFill>
                  <a:srgbClr val="999999"/>
                </a:solidFill>
                <a:latin typeface="方正雅意黑 GB18030L2" panose="02000500000000000000" charset="-122"/>
                <a:ea typeface="方正雅意黑 GB18030L2" panose="02000500000000000000" charset="-122"/>
                <a:cs typeface="方正雅意黑 GB18030L2" panose="02000500000000000000" charset="-122"/>
              </a:rPr>
              <a:t>「人应该是被超越的某种东西。」—— 尼采</a:t>
            </a:r>
            <a:endParaRPr lang="zh-CN" sz="3400" b="1">
              <a:solidFill>
                <a:srgbClr val="999999"/>
              </a:solidFill>
              <a:latin typeface="方正雅意黑 GB18030L2" panose="02000500000000000000" charset="-122"/>
              <a:ea typeface="方正雅意黑 GB18030L2" panose="02000500000000000000" charset="-122"/>
              <a:cs typeface="方正雅意黑 GB18030L2" panose="020005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9692</Words>
  <Application>WPS 演示</Application>
  <PresentationFormat/>
  <Paragraphs>807</Paragraphs>
  <Slides>71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9" baseType="lpstr">
      <vt:lpstr>Arial</vt:lpstr>
      <vt:lpstr>宋体</vt:lpstr>
      <vt:lpstr>Wingdings</vt:lpstr>
      <vt:lpstr>Arial</vt:lpstr>
      <vt:lpstr>Helvetica Neue</vt:lpstr>
      <vt:lpstr>PingFang SC</vt:lpstr>
      <vt:lpstr>Thonburi</vt:lpstr>
      <vt:lpstr>宋体</vt:lpstr>
      <vt:lpstr>Calibri</vt:lpstr>
      <vt:lpstr>Helvetica Neue</vt:lpstr>
      <vt:lpstr>宋体</vt:lpstr>
      <vt:lpstr>汉仪书宋二KW</vt:lpstr>
      <vt:lpstr>微软雅黑</vt:lpstr>
      <vt:lpstr>方正雅意黑 GB18030L2</vt:lpstr>
      <vt:lpstr>Arial Unicode MS</vt:lpstr>
      <vt:lpstr>PingFang SC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你坐偏了</cp:lastModifiedBy>
  <cp:revision>18</cp:revision>
  <dcterms:created xsi:type="dcterms:W3CDTF">2026-10-29T05:49:52Z</dcterms:created>
  <dcterms:modified xsi:type="dcterms:W3CDTF">2026-10-29T05:49:52Z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EDF8503F81BBF1FF42BEA86A39D47C0F_42</vt:lpwstr>
  </property>
  <property fmtid="{D5CDD505-2E9C-101B-9397-08002B2CF9AE}" pid="3" name="KSOProductBuildVer">
    <vt:lpwstr>2052-12.1.28496.28496</vt:lpwstr>
  </property>
</Properties>
</file>