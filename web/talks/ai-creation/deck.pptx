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3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8"/>
    <p:sldId id="287" r:id="rId7"/>
    <p:sldId id="288" r:id="rId6"/>
    <p:sldId id="289" r:id="rId5"/>
    <p:sldId id="290" r:id="rId4"/>
    <p:sldId id="291" r:id="rId25"/>
    <p:sldId id="292" r:id="rId26"/>
    <p:sldId id="293" r:id="rId27"/>
    <p:sldId id="294" r:id="rId28"/>
    <p:sldId id="295" r:id="rId29"/>
    <p:sldId id="296" r:id="rId30"/>
    <p:sldId id="297" r:id="rId31"/>
    <p:sldId id="298" r:id="rId32"/>
    <p:sldId id="299" r:id="rId33"/>
    <p:sldId id="300" r:id="rId34"/>
    <p:sldId id="301" r:id="rId35"/>
    <p:sldId id="302" r:id="rId36"/>
    <p:sldId id="303" r:id="rId37"/>
    <p:sldId id="304" r:id="rId38"/>
    <p:sldId id="305" r:id="rId39"/>
    <p:sldId id="274" r:id="rId20"/>
  </p:sldIdLst>
  <p:sldSz cx="12191365" cy="6858000" type="screen4x3"/>
  <p:notesSz cx="6858000" cy="9144000"/>
  <p:embeddedFontLst>
    <p:embeddedFont>
      <p:font typeface="方正雅意黑 GB18030L2" panose="02000500000000000000" charset="-122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33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Relationship Id="rId24" Type="http://schemas.openxmlformats.org/officeDocument/2006/relationships/font" Target="fonts/font1.fntdata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1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2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2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27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28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2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35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37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8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9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0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2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3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4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9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60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1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6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hyperlink" Target="https://chesterlee.cn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87552" y="914400"/>
            <a:ext cx="393192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207008"/>
            <a:ext cx="3602736" cy="44439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85232" y="2103120"/>
            <a:ext cx="56692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Helvetica Neue"/>
              </a:rPr>
              <a:t>Chester Lee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85232" y="3063240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850" b="0">
                <a:solidFill>
                  <a:srgbClr val="CFCFCF"/>
                </a:solidFill>
                <a:latin typeface="PingFang SC"/>
              </a:rPr>
              <a:t>INTJ · 现居深圳</a:t>
            </a:r>
          </a:p>
          <a:p>
            <a:pPr algn="l">
              <a:lnSpc>
                <a:spcPct val="155000"/>
              </a:lnSpc>
            </a:pPr>
            <a:r>
              <a:rPr sz="1850" b="0">
                <a:solidFill>
                  <a:srgbClr val="CFCFCF"/>
                </a:solidFill>
                <a:latin typeface="PingFang SC"/>
              </a:rPr>
              <a:t>信息化PM × 独立开发者（AI 产品）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85232" y="422452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>
                <a:solidFill>
                  <a:srgbClr val="A9A9A9"/>
                </a:solidFill>
                <a:latin typeface="PingFang SC"/>
                <a:hlinkClick r:id="rId3"/>
              </a:rPr>
              <a:t>https://chesterlee.cn/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活动海报_电脑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01 · 第一个问题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大家知道 AI 是从哪一年开始的吗？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463040" cy="9144"/>
          </a:xfrm>
          <a:prstGeom prst="rect">
            <a:avLst/>
          </a:prstGeom>
          <a:solidFill>
            <a:srgbClr val="C8A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90088"/>
            <a:ext cx="962863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1000"/>
              </a:spcAft>
            </a:pPr>
            <a:r>
              <a:rPr sz="17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副：多数人会说 2022 年。书里的答案是 1940 年代。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03 · 起源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是从哪一年开始的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06040" y="1920240"/>
            <a:ext cx="10972" cy="324612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4892" y="188366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1943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92224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麦卡洛克与皮茨用数学描述一个神经元，第一个神经元模型。</a:t>
            </a:r>
          </a:p>
        </p:txBody>
      </p:sp>
      <p:sp>
        <p:nvSpPr>
          <p:cNvPr id="9" name="Oval 8"/>
          <p:cNvSpPr/>
          <p:nvPr/>
        </p:nvSpPr>
        <p:spPr>
          <a:xfrm>
            <a:off x="2564892" y="269519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40329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1983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603753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沃尔夫勒姆第一次写神经网络，「它并没有做任何有趣的事情」。</a:t>
            </a:r>
          </a:p>
        </p:txBody>
      </p:sp>
      <p:sp>
        <p:nvSpPr>
          <p:cNvPr id="12" name="Oval 11"/>
          <p:cNvSpPr/>
          <p:nvPr/>
        </p:nvSpPr>
        <p:spPr>
          <a:xfrm>
            <a:off x="2564892" y="350672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518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415284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GPT-2，书里用来演示「一次只加一个词」的模型。</a:t>
            </a:r>
          </a:p>
        </p:txBody>
      </p:sp>
      <p:sp>
        <p:nvSpPr>
          <p:cNvPr id="15" name="Oval 14"/>
          <p:cNvSpPr/>
          <p:nvPr/>
        </p:nvSpPr>
        <p:spPr>
          <a:xfrm>
            <a:off x="2564892" y="4318253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6339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226814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ChatGPT 发布。40 年后，计算机快了百万倍。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53212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书里给的答案：神经网络诞生在 1940 年代，不是 2022 年。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04 · 书里原话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它始于一个关于大脑的问题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00784"/>
            <a:ext cx="10543032" cy="4261104"/>
          </a:xfrm>
          <a:prstGeom prst="roundRect">
            <a:avLst>
              <a:gd name="adj" fmla="val 5000"/>
            </a:avLst>
          </a:prstGeom>
          <a:solidFill>
            <a:srgbClr val="47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1810512"/>
            <a:ext cx="9537192" cy="3895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ChatGPT 基于神经网络的概念，神经网络最初是在 1940 年代作为大脑运作的理想化而发明的。我自己在 1983 年首次编写了一个神经网络，但它并没有做任何有趣的事情。但是，40 年后，随着计算机的速度快了百万倍，互联网上有数十亿页的文本，并且进行了一系列工程创新，情况已经完全不同了。出人意料的是，一个比我 1983 年使用的神经网络大十亿倍的神经网络能够生成有意义的人类语言，这曾被认为是独特的人类特征。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8471" y="5632704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00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—— 斯蒂芬·沃尔夫勒姆《这就是 ChatGPT》前言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05 · 2024 诺奖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的根，长在物理里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01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约翰·霍普菲尔德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物理学家。1982 年提出霍普菲尔德网络：借物理里的「能量」解释联想记忆——给一半，能想起全部。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02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杰弗里·辛顿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6880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计算机科学家。1970 年代开始研究神经网络，1985 年做出玻尔兹曼机，2006 年带火深度学习，2012 年 AlexNet 夺冠后神经网络被大规模应用——今天的大模型仍走这条路。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9536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03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为什么是物理学奖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6112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2024 年诺贝尔物理学奖授予两人，表彰「为利用人工神经网络实现机器学习奠定基础性发现与发明」。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从 1940 年代起的这条线，走了八十年，走到了斯德哥尔摩。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1091672" cy="5852160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74519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40280"/>
            <a:ext cx="9692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从一个问题开始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5661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今天不讲结论，先讲问题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02 · 先问一句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创作，最重要的是什么？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463040" cy="9144"/>
          </a:xfrm>
          <a:prstGeom prst="rect">
            <a:avLst/>
          </a:prstGeom>
          <a:solidFill>
            <a:srgbClr val="C8A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90088"/>
            <a:ext cx="962863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1000"/>
              </a:spcAft>
            </a:pPr>
            <a:r>
              <a:rPr sz="17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副：先别急着回答，我们把它拆开看。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1091672" cy="5852160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74519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40280"/>
            <a:ext cx="9692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一切源于一个真实的提问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5661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问题不同，答案的高度就不同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01 · 论文原文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三类回答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00784"/>
            <a:ext cx="10543032" cy="4261104"/>
          </a:xfrm>
          <a:prstGeom prst="roundRect">
            <a:avLst>
              <a:gd name="adj" fmla="val 5000"/>
            </a:avLst>
          </a:prstGeom>
          <a:solidFill>
            <a:srgbClr val="47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1810512"/>
            <a:ext cx="9537192" cy="3895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500" b="0">
                <a:solidFill>
                  <a:srgbClr val="ECECEC"/>
                </a:solidFill>
                <a:latin typeface="PingFang SC"/>
                <a:ea typeface="PingFang SC"/>
                <a:cs typeface="PingFang SC"/>
              </a:rPr>
              <a:t>如果问对土地改革过程感兴趣的青年学者他们研究的问题是什么，他们的回答一般会呈现三类形式，例如：</a:t>
            </a:r>
          </a:p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500" b="0">
                <a:solidFill>
                  <a:srgbClr val="ECECEC"/>
                </a:solidFill>
                <a:latin typeface="PingFang SC"/>
                <a:ea typeface="PingFang SC"/>
                <a:cs typeface="PingFang SC"/>
              </a:rPr>
              <a:t>(1)「我想知道土地改革过程的发生和发展过程。」</a:t>
            </a:r>
          </a:p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500" b="0">
                <a:solidFill>
                  <a:srgbClr val="ECECEC"/>
                </a:solidFill>
                <a:latin typeface="PingFang SC"/>
                <a:ea typeface="PingFang SC"/>
                <a:cs typeface="PingFang SC"/>
              </a:rPr>
              <a:t>(2)「我想知道土地改革过程中『情感动员』（或任何一个其他的视角）是怎么进行的。」</a:t>
            </a:r>
          </a:p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500" b="0">
                <a:solidFill>
                  <a:srgbClr val="ECECEC"/>
                </a:solidFill>
                <a:latin typeface="PingFang SC"/>
                <a:ea typeface="PingFang SC"/>
                <a:cs typeface="PingFang SC"/>
              </a:rPr>
              <a:t>(3)「我发觉土地改革过程在各地呈现出许多不同，例如福建土地改革的斗争对象往往是宗祠而不是地主，『小土地出租者』这一成分划分在江南一带出现得较多，在有些地方土地改革过程首先发动起来的是一些社会边缘群体……我想知道为什么土地改革过程在各地区呈现出这些差异。」</a:t>
            </a:r>
          </a:p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1500" b="0">
                <a:solidFill>
                  <a:srgbClr val="ECECEC"/>
                </a:solidFill>
                <a:latin typeface="PingFang SC"/>
                <a:ea typeface="PingFang SC"/>
                <a:cs typeface="PingFang SC"/>
              </a:rPr>
              <a:t>以上三类回答中，前两类回答中的发问都属于过程性发问，第三类发问则属于差异性发问。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8471" y="5632704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00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——《质性社会学研究的差异性发问和发问艺术》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02 · 三种问法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同一个题目，三种问法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6537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过程性发问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847088"/>
            <a:ext cx="789127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「我想知道土地改革过程的发生和发展过程。」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90779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视角性发问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944368"/>
            <a:ext cx="789127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「我想知道土地改革过程中『情感动员』是怎么进行的。」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0507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5993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差异性发问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4041648"/>
            <a:ext cx="789127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「我想知道为什么土地改革过程在各地区呈现出这些差异。」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10235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第一类较难培养；第二类容易培养，但也许会因为缺乏想象力而难以成为一位优秀学者；第三类不但比较容易培养，而且还有成为优秀学者的潜质。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03 · 差别在哪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过程性发问在收集材料，差异性发问在生产解释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463040" cy="9144"/>
          </a:xfrm>
          <a:prstGeom prst="rect">
            <a:avLst/>
          </a:prstGeom>
          <a:solidFill>
            <a:srgbClr val="C8A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90088"/>
            <a:ext cx="962863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1000"/>
              </a:spcAft>
            </a:pPr>
            <a:r>
              <a:rPr sz="17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副：前者问「怎么发生的」，后者先看见差异，再问「为什么不一样」。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32120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把问题问成第三种，AI 的输出才会跟别人的不一样。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04 · 真事一桩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我的产品：微信悦读，是被一句话问出来的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01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一开始的问法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「帮我做一个微信读书的笔记导出插件。」AI 会很听话地给你一个导出功能——市面上已经有十几款。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02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换成的问法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「为什么有的人几千条笔记越用越有用，我的上万条笔记再也没被翻出来？」这两类人差在哪？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7046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03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2806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答案指向「重新遇见」，而不是「存档导出」——于是有了每日卡片、灵感漫游、读书人性格版。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同一个模型、同一个我，差别只在这句话怎么问。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1091672" cy="5852160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74519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40280"/>
            <a:ext cx="9692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解决一个真实问题的初心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5661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不是先有 AI，是先有问题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01 · 我的产品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「微信阅读」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01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它替谁解决什么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给读书多、笔记多的人：让微信读书里的阅读更轻松，让上万条笔记重新被翻出来。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02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为什么做它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自己的笔记记完就死；市面上的十几款插件，要么不好用，要么开始收费。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7046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03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在里面做了什么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2806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写代码、搭结构、改文案——我出问题，它出活。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永久公益、免费、无广告、开源。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02 · 初心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先有真实的问题，再谈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463040" cy="9144"/>
          </a:xfrm>
          <a:prstGeom prst="rect">
            <a:avLst/>
          </a:prstGeom>
          <a:solidFill>
            <a:srgbClr val="C8A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90088"/>
            <a:ext cx="962863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1000"/>
              </a:spcAft>
            </a:pPr>
            <a:r>
              <a:rPr sz="17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副：不解决真问题的创作，做得再快也只是练习。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32120"/>
            <a:ext cx="9628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「我一开始只想做一个小插件。别一上来就想做平台。」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1091672" cy="5852160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74519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40280"/>
            <a:ext cx="9692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一套工具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56616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然后才是方法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01 · 协作架构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我和 AI 是怎么分工的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6537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847088"/>
            <a:ext cx="789127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提真问题、做判断、定标准——不外包：差异在哪、这样对不对、什么不许改。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0487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973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441448"/>
            <a:ext cx="789127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常驻约束，每次对话都生效：首末页一个字不动、内容只认结构文件、文件只放 00_素材 / 01_内容结构 / 03_输出。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1927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7413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55848"/>
            <a:ext cx="789127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按需加载：把「做对一次」固化成 SOP + 脚本——course-ppt、公众号加工、平台分析、取伙发布、转写稿阅读版。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3367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8853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命令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270248"/>
            <a:ext cx="789127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一句话点名：按模板出一版课件、改成公众号。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82803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8289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864608"/>
            <a:ext cx="789127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它的手脚：读写文件、跑 Python、开浏览器、生成 pptx；build_ppt.py 负责排版分页。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42239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71500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提问 → 调用 → 产出 → 回写 → 下次更快；记忆底座是 Obsidian 里的那几份文件。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02 · 三端一条线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一套能复用的工具与经验体系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输入端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真问题、判断、标准——差异在哪、这样对不对、什么不许改。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中台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Trae 工作台 + DeepSeek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能读、能写、能跑、能开浏览器；规则、技能、命令、工具都在这一层。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7046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产出端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可交付的东西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2806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课件 PPT、文章、软件产品（小程序 / 网页工具 / 脚本）。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90313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底座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Obsidian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56073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00_素材/ 初稿、01_内容结构.md、03_输出/ v1…vN、版本记录.md——下次提问直接可读。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你出问题，它出活；你把经验存下来，它下次不用再学一遍。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03 · 一句话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你出问题，它出活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463040" cy="9144"/>
          </a:xfrm>
          <a:prstGeom prst="rect">
            <a:avLst/>
          </a:prstGeom>
          <a:solidFill>
            <a:srgbClr val="C8A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90088"/>
            <a:ext cx="962863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1000"/>
              </a:spcAft>
            </a:pPr>
            <a:r>
              <a:rPr sz="17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副：把经验存进文件，它下次不用再学一遍。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04 · 三个词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规则、技能、命令，到底分别管什么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6537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847088"/>
            <a:ext cx="789127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长期约定，AI 每次都先读它。防跑偏：改错文件、动不该动的地方。例：首末页原样保留，内容只来自 01_内容结构.md，每次生成新版本、不覆盖旧文件。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90779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944368"/>
            <a:ext cx="789127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已验证的做法写成文字和脚本，遇到这类活就照做。防从零开始：每次重新解释流程、重新踩坑。例：course-ppt，一份结构文件 → 一版课件。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0507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5993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命令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4041648"/>
            <a:ext cx="789127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你开口的那一句话，用来精确点名要哪个技能。防说不清。例：「按模板出一版课件」＝ course-ppt；「改成公众号」＝ 公众号加工。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10235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工具决定上限，规则和技能决定下限；三者叠起来，才是「一句话 → 稳定结果」，而不是「聊半天 → 看运气」。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05 · 一份结构文件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六种页面，够用了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6537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847088"/>
            <a:ext cx="7891271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章节封面，每章开头一张。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1249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735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quote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449068"/>
            <a:ext cx="7891271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原文引用，一段话一页，长了自动续页。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1447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6933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051048"/>
            <a:ext cx="7891271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一句要停三秒的话。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616451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71315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653027"/>
            <a:ext cx="7891271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并列的三四件事。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1843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329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255007"/>
            <a:ext cx="7891271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人物、概念、文件清单。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2041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75275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856987"/>
            <a:ext cx="7891271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有先后的过程。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2239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714999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版式固定，脚本负责排版——你只管把内容写对。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06 · 现场拆解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一份初稿，怎么变成一版课件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06040" y="1920240"/>
            <a:ext cx="10972" cy="324612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4892" y="188366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92224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我写下真实想法：00_素材/初稿.md。口语、跳跃、有情绪都没关系，原话保留。</a:t>
            </a:r>
          </a:p>
        </p:txBody>
      </p:sp>
      <p:sp>
        <p:nvSpPr>
          <p:cNvPr id="9" name="Oval 8"/>
          <p:cNvSpPr/>
          <p:nvPr/>
        </p:nvSpPr>
        <p:spPr>
          <a:xfrm>
            <a:off x="2564892" y="2532888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7802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441448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它拆成页面结构：01_内容结构.md。章节 → 页，缺的标【待补】，不替我编。</a:t>
            </a:r>
          </a:p>
        </p:txBody>
      </p:sp>
      <p:sp>
        <p:nvSpPr>
          <p:cNvPr id="12" name="Oval 11"/>
          <p:cNvSpPr/>
          <p:nvPr/>
        </p:nvSpPr>
        <p:spPr>
          <a:xfrm>
            <a:off x="2564892" y="3182112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1272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090672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它按模板生成：build_ppt.py 套版式、分页、检查溢出与缺图。</a:t>
            </a:r>
          </a:p>
        </p:txBody>
      </p:sp>
      <p:sp>
        <p:nvSpPr>
          <p:cNvPr id="15" name="Oval 14"/>
          <p:cNvSpPr/>
          <p:nvPr/>
        </p:nvSpPr>
        <p:spPr>
          <a:xfrm>
            <a:off x="2564892" y="3831336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764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739896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它交付新版本：03_输出/…_v1.pptx，旧版本不覆盖，就是回滚点。</a:t>
            </a:r>
          </a:p>
        </p:txBody>
      </p:sp>
      <p:sp>
        <p:nvSpPr>
          <p:cNvPr id="18" name="Oval 17"/>
          <p:cNvSpPr/>
          <p:nvPr/>
        </p:nvSpPr>
        <p:spPr>
          <a:xfrm>
            <a:off x="2564892" y="4480559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2569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389120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我只改一处，再跑一次 → v2；改的是结构文件，不是 PPT 页面。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这页 PPT，也是这么出来的。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07 · 分工清单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什么可以外包，什么不可以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我负责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不可外包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提一个真实、具体、带差异的问题；判断哪句是重点、哪句要停三秒；定审美与底线；对结果负责。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AI 负责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可外包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查资料、读长文、做对照；把口语整理成结构；套版式、跑脚本、批量重复；记版本、留痕、随时重做。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人的那部分不可外包——问题、判断、标准；其余都可以交给它。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08 · 课件生产线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内容一份，模板一套，脚本一支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00_素材/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内容层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初稿、录音转写、参考文档、图片。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01_内容结构.md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唯一内容源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原文整段进，不删不改写；缺的地方我来补。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7046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课件模版.pptx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版式层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2806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固定首末页：首页和末页原样保留，一个字不动。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90313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build_ppt.py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自动排版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56073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按页型套版式、自动分页、查缺图与溢出。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迭代公式：改结构 → 再跑一次 → 得到 v(N+1)。人不碰页面，只碰内容。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09 · 真实案例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微信悦读是怎么长出来的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06040" y="1920240"/>
            <a:ext cx="10972" cy="324612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4892" y="188366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92224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先有一个自己的痛点：上万条笔记再也没被翻出来；十几款插件，要么不好用，要么开始收费。</a:t>
            </a:r>
          </a:p>
        </p:txBody>
      </p:sp>
      <p:sp>
        <p:nvSpPr>
          <p:cNvPr id="9" name="Oval 8"/>
          <p:cNvSpPr/>
          <p:nvPr/>
        </p:nvSpPr>
        <p:spPr>
          <a:xfrm>
            <a:off x="2564892" y="2532888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7802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441448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收敛成两个命题：让微信读书里的阅读更轻松；让笔记重新焕发活力。</a:t>
            </a:r>
          </a:p>
        </p:txBody>
      </p:sp>
      <p:sp>
        <p:nvSpPr>
          <p:cNvPr id="12" name="Oval 11"/>
          <p:cNvSpPr/>
          <p:nvPr/>
        </p:nvSpPr>
        <p:spPr>
          <a:xfrm>
            <a:off x="2564892" y="3182112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1272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090672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先找地基：微信读书开放了官方 API，能拿到自己的全部阅读数据。</a:t>
            </a:r>
          </a:p>
        </p:txBody>
      </p:sp>
      <p:sp>
        <p:nvSpPr>
          <p:cNvPr id="15" name="Oval 14"/>
          <p:cNvSpPr/>
          <p:nvPr/>
        </p:nvSpPr>
        <p:spPr>
          <a:xfrm>
            <a:off x="2564892" y="3831336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764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739896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只做最小可用版：「我一开始只想做一个小插件。别一上来就想做平台。」</a:t>
            </a:r>
          </a:p>
        </p:txBody>
      </p:sp>
      <p:sp>
        <p:nvSpPr>
          <p:cNvPr id="18" name="Oval 17"/>
          <p:cNvSpPr/>
          <p:nvPr/>
        </p:nvSpPr>
        <p:spPr>
          <a:xfrm>
            <a:off x="2564892" y="4480559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2569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389120"/>
            <a:ext cx="83484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边做边长：插件 → 小程序（悦读且住）→ H5 → 网站。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想法像泉水一样冒出来——是做着做着，才长成一套的。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10 · 长出来的功能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三个功能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01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每日卡片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让死去的知识，重新和你建立关联。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02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灵感漫游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把零散的笔记，拼成一篇有结构的文章。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7046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03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读书人性格版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2806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从阅读数据里算出 16 种人格。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AI 在这个过程中，做了粘合剂，和一个提醒者角色。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11 ·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我要做的是一个产品，而不是一个工具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463040" cy="9144"/>
          </a:xfrm>
          <a:prstGeom prst="rect">
            <a:avLst/>
          </a:prstGeom>
          <a:solidFill>
            <a:srgbClr val="C8A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90088"/>
            <a:ext cx="962863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1000"/>
              </a:spcAft>
            </a:pPr>
            <a:r>
              <a:rPr sz="17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副：好的产品，是能帮助到人的，以及让人成长。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12 · 我的原话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老板与员工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00784"/>
            <a:ext cx="10543032" cy="4261104"/>
          </a:xfrm>
          <a:prstGeom prst="roundRect">
            <a:avLst>
              <a:gd name="adj" fmla="val 5000"/>
            </a:avLst>
          </a:prstGeom>
          <a:solidFill>
            <a:srgbClr val="474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1810512"/>
            <a:ext cx="9537192" cy="3895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26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模型只是员工，它不够好，不是你的问题。</a:t>
            </a:r>
          </a:p>
          <a:p>
            <a:pPr algn="l">
              <a:lnSpc>
                <a:spcPct val="155000"/>
              </a:lnSpc>
              <a:spcAft>
                <a:spcPts val="1200"/>
              </a:spcAft>
            </a:pPr>
            <a:r>
              <a:rPr sz="26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你有没有当好这个老板，才是问题。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8471" y="5632704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100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——《普通人用 AI 做软件应该怎么去做？》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13 · 我的工具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三件套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Trae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编程工具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负责把想法落成能跑的文件。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3779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DeepSeek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69539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负责想、写、改、查。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7046"/>
            <a:ext cx="10543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Obsidian  </a:t>
            </a:r>
            <a:r>
              <a:rPr sz="1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知识管理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2806"/>
            <a:ext cx="10543032" cy="389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负责把素材和结构存住、串起来。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177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工具会换，问题不会。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14 · 最后一页之前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430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这个 PPT 也是我和 AI 协作出来的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463040" cy="9144"/>
          </a:xfrm>
          <a:prstGeom prst="rect">
            <a:avLst/>
          </a:prstGeom>
          <a:solidFill>
            <a:srgbClr val="C8A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90088"/>
            <a:ext cx="9628632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1000"/>
              </a:spcAft>
            </a:pPr>
            <a:r>
              <a:rPr sz="17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副：从初稿到版式，每一步都在同一个文件里迭代。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3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15 · 推荐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430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四样东西带走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6537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《这就是ChatGPT》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847088"/>
            <a:ext cx="7891271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AI 到底怎么工作，一本书讲清楚。AI：推荐语修改掉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5346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0832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《深度学习革命》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90038"/>
            <a:ext cx="7891271" cy="1062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凯德·梅茨写的深度学习史：辛顿、杨立昆、本吉奥怎样熬过两次寒冬，把神经网络送上牌桌。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1645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71315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花叔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653028"/>
            <a:ext cx="7891271" cy="1062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独立开发者，代表作小猫补光灯（App Store 付费榜 Top1）；著有《一本书玩转 DeepSeek》、《AI 编程橙皮书》系列。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67944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3430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质性社会学那篇论文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716018"/>
            <a:ext cx="7891271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5B5B5"/>
                </a:solidFill>
                <a:latin typeface="PingFang SC"/>
                <a:ea typeface="PingFang SC"/>
                <a:cs typeface="PingFang SC"/>
              </a:rPr>
              <a:t>学怎么问出一个真正的问题。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422392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71500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C8A464"/>
                </a:solidFill>
                <a:latin typeface="PingFang SC"/>
                <a:ea typeface="PingFang SC"/>
                <a:cs typeface="PingFang SC"/>
              </a:rPr>
              <a:t>提问的能力，比工具活得更久。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72784"/>
            <a:ext cx="10543032" cy="9144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733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AI创作：什么是最重要的？　·　Chester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94392" y="63733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8F8F8F"/>
                </a:solidFill>
                <a:latin typeface="PingFang SC"/>
                <a:ea typeface="PingFang SC"/>
                <a:cs typeface="PingFang S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矩形 81"/>
          <p:cNvSpPr/>
          <p:nvPr/>
        </p:nvSpPr>
        <p:spPr>
          <a:xfrm>
            <a:off x="2095500" y="1206500"/>
            <a:ext cx="8001000" cy="1143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6000" b="1">
                <a:solidFill>
                  <a:srgbClr val="FFFFFF"/>
                </a:solidFill>
                <a:latin typeface="方正雅意黑 GB18030L2" panose="02000500000000000000" charset="-122"/>
                <a:ea typeface="方正雅意黑 GB18030L2" panose="02000500000000000000" charset="-122"/>
              </a:rPr>
              <a:t>最后，祝你成为超人。</a:t>
            </a:r>
            <a:endParaRPr lang="zh-CN" sz="6000" b="1">
              <a:solidFill>
                <a:srgbClr val="FFFFFF"/>
              </a:solidFill>
              <a:latin typeface="方正雅意黑 GB18030L2" panose="02000500000000000000" charset="-122"/>
              <a:ea typeface="方正雅意黑 GB18030L2" panose="02000500000000000000" charset="-122"/>
            </a:endParaRPr>
          </a:p>
        </p:txBody>
      </p:sp>
      <p:sp>
        <p:nvSpPr>
          <p:cNvPr id="89" name="矩形 82"/>
          <p:cNvSpPr/>
          <p:nvPr/>
        </p:nvSpPr>
        <p:spPr>
          <a:xfrm>
            <a:off x="3365500" y="3149600"/>
            <a:ext cx="5461000" cy="698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3600" b="1">
                <a:solidFill>
                  <a:srgbClr val="888888"/>
                </a:solidFill>
                <a:latin typeface="方正雅意黑 GB18030L2" panose="02000500000000000000" charset="-122"/>
                <a:ea typeface="方正雅意黑 GB18030L2" panose="02000500000000000000" charset="-122"/>
              </a:rPr>
              <a:t>在我的语境中有两层意思</a:t>
            </a:r>
            <a:endParaRPr lang="zh-CN" sz="3600" b="1">
              <a:solidFill>
                <a:srgbClr val="888888"/>
              </a:solidFill>
              <a:latin typeface="方正雅意黑 GB18030L2" panose="02000500000000000000" charset="-122"/>
              <a:ea typeface="方正雅意黑 GB18030L2" panose="02000500000000000000" charset="-122"/>
            </a:endParaRPr>
          </a:p>
        </p:txBody>
      </p:sp>
      <p:sp>
        <p:nvSpPr>
          <p:cNvPr id="90" name="矩形 83"/>
          <p:cNvSpPr/>
          <p:nvPr/>
        </p:nvSpPr>
        <p:spPr>
          <a:xfrm>
            <a:off x="3746500" y="39370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ctr"/>
            <a:r>
              <a:rPr lang="zh-CN" sz="3400" b="1">
                <a:solidFill>
                  <a:srgbClr val="CCCCCC"/>
                </a:solidFill>
                <a:latin typeface="方正雅意黑 GB18030L2" panose="02000500000000000000" charset="-122"/>
                <a:ea typeface="方正雅意黑 GB18030L2" panose="02000500000000000000" charset="-122"/>
              </a:rPr>
              <a:t>在生活中游刃有余的人</a:t>
            </a:r>
            <a:endParaRPr lang="zh-CN" sz="3400" b="1">
              <a:solidFill>
                <a:srgbClr val="CCCCCC"/>
              </a:solidFill>
              <a:latin typeface="方正雅意黑 GB18030L2" panose="02000500000000000000" charset="-122"/>
              <a:ea typeface="方正雅意黑 GB18030L2" panose="02000500000000000000" charset="-122"/>
            </a:endParaRPr>
          </a:p>
        </p:txBody>
      </p:sp>
      <p:sp>
        <p:nvSpPr>
          <p:cNvPr id="91" name="矩形 84"/>
          <p:cNvSpPr/>
          <p:nvPr/>
        </p:nvSpPr>
        <p:spPr>
          <a:xfrm>
            <a:off x="1604645" y="4660900"/>
            <a:ext cx="8769985" cy="635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ctr"/>
            <a:r>
              <a:rPr lang="zh-CN" sz="3400" b="1">
                <a:solidFill>
                  <a:srgbClr val="999999"/>
                </a:solidFill>
                <a:latin typeface="方正雅意黑 GB18030L2" panose="02000500000000000000" charset="-122"/>
                <a:ea typeface="方正雅意黑 GB18030L2" panose="02000500000000000000" charset="-122"/>
                <a:cs typeface="方正雅意黑 GB18030L2" panose="02000500000000000000" charset="-122"/>
              </a:rPr>
              <a:t>「人应该是被超越的某种东西。」—— 尼采</a:t>
            </a:r>
            <a:endParaRPr lang="zh-CN" sz="3400" b="1">
              <a:solidFill>
                <a:srgbClr val="999999"/>
              </a:solidFill>
              <a:latin typeface="方正雅意黑 GB18030L2" panose="02000500000000000000" charset="-122"/>
              <a:ea typeface="方正雅意黑 GB18030L2" panose="02000500000000000000" charset="-122"/>
              <a:cs typeface="方正雅意黑 GB18030L2" panose="020005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1526</Words>
  <Application>WPS 表格</Application>
  <PresentationFormat/>
  <Paragraphs>366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9" baseType="lpstr">
      <vt:lpstr>Arial</vt:lpstr>
      <vt:lpstr>宋体</vt:lpstr>
      <vt:lpstr>Wingdings</vt:lpstr>
      <vt:lpstr>Arial</vt:lpstr>
      <vt:lpstr>Helvetica Neue</vt:lpstr>
      <vt:lpstr>微软雅黑</vt:lpstr>
      <vt:lpstr>方正雅意黑 GB18030L2</vt:lpstr>
      <vt:lpstr>PingFang SC</vt:lpstr>
      <vt:lpstr>Thonburi</vt:lpstr>
      <vt:lpstr>Calibri</vt:lpstr>
      <vt:lpstr>Helvetica Neue</vt:lpstr>
      <vt:lpstr>微软雅黑</vt:lpstr>
      <vt:lpstr>汉仪书宋二KW</vt:lpstr>
      <vt:lpstr>宋体</vt:lpstr>
      <vt:lpstr>Arial Unicode MS</vt:lpstr>
      <vt:lpstr>PingFang SC</vt:lpstr>
      <vt:lpstr>苹方-简</vt:lpstr>
      <vt:lpstr>MicrosoftYaHei</vt:lpstr>
      <vt:lpstr>ArialMT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你坐偏了</cp:lastModifiedBy>
  <cp:revision>17</cp:revision>
  <dcterms:created xsi:type="dcterms:W3CDTF">2026-10-23T03:56:00Z</dcterms:created>
  <dcterms:modified xsi:type="dcterms:W3CDTF">2026-10-23T03:56:00Z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EDF8503F81BBF1FF42BEA86A39D47C0F_42</vt:lpwstr>
  </property>
  <property fmtid="{D5CDD505-2E9C-101B-9397-08002B2CF9AE}" pid="3" name="KSOProductBuildVer">
    <vt:lpwstr>2052-12.1.28496.28496</vt:lpwstr>
  </property>
</Properties>
</file>