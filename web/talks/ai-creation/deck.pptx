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8"/>
    <p:sldId id="287" r:id="rId7"/>
    <p:sldId id="288" r:id="rId6"/>
    <p:sldId id="289" r:id="rId5"/>
    <p:sldId id="290" r:id="rId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274" r:id="rId20"/>
  </p:sldIdLst>
  <p:sldSz cx="12191365" cy="6858000" type="screen4x3"/>
  <p:notesSz cx="6858000" cy="9144000"/>
  <p:embeddedFontLst>
    <p:embeddedFont>
      <p:font typeface="方正雅意黑 GB18030L2" panose="02000500000000000000" charset="-122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2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hyperlink" Target="https://chesterlee.cn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7552" y="914400"/>
            <a:ext cx="393192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207008"/>
            <a:ext cx="3602736" cy="4443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85232" y="210312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Helvetica Neue"/>
              </a:rPr>
              <a:t>Chester Lee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85232" y="3063240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850" b="0">
                <a:solidFill>
                  <a:srgbClr val="CFCFCF"/>
                </a:solidFill>
                <a:latin typeface="PingFang SC"/>
              </a:rPr>
              <a:t>INTJ · 现居深圳</a:t>
            </a:r>
          </a:p>
          <a:p>
            <a:pPr algn="l">
              <a:lnSpc>
                <a:spcPct val="155000"/>
              </a:lnSpc>
            </a:pPr>
            <a:r>
              <a:rPr sz="1850" b="0">
                <a:solidFill>
                  <a:srgbClr val="CFCFCF"/>
                </a:solidFill>
                <a:latin typeface="PingFang SC"/>
              </a:rPr>
              <a:t>信息化PM × 独立开发者（AI 产品）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85232" y="422452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>
                <a:solidFill>
                  <a:srgbClr val="A9A9A9"/>
                </a:solidFill>
                <a:latin typeface="PingFang SC"/>
                <a:hlinkClick r:id="rId3"/>
              </a:rPr>
              <a:t>https://chesterlee.cn/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活动海报_电脑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"/>
            <a:ext cx="12191365" cy="68576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第一个问题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大家知道 AI 是从哪一年开始的吗？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副：多数人会说 2022 年。书里的答案是 1940 年代。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 · 起源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是从哪一年开始的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6040" y="1920240"/>
            <a:ext cx="10972" cy="324612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64892" y="1883664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1943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792224"/>
            <a:ext cx="83484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麦卡洛克与皮茨用数学描述一个神经元，第一个神经元模型。</a:t>
            </a:r>
          </a:p>
        </p:txBody>
      </p:sp>
      <p:sp>
        <p:nvSpPr>
          <p:cNvPr id="9" name="Oval 8"/>
          <p:cNvSpPr/>
          <p:nvPr/>
        </p:nvSpPr>
        <p:spPr>
          <a:xfrm>
            <a:off x="2564892" y="2695194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40329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1983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603753"/>
            <a:ext cx="83484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沃尔夫勒姆第一次写神经网络，「它并没有做任何有趣的事情」。</a:t>
            </a:r>
          </a:p>
        </p:txBody>
      </p:sp>
      <p:sp>
        <p:nvSpPr>
          <p:cNvPr id="12" name="Oval 11"/>
          <p:cNvSpPr/>
          <p:nvPr/>
        </p:nvSpPr>
        <p:spPr>
          <a:xfrm>
            <a:off x="2564892" y="3506724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518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415284"/>
            <a:ext cx="83484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GPT-2，书里用来演示「一次只加一个词」的模型。</a:t>
            </a:r>
          </a:p>
        </p:txBody>
      </p:sp>
      <p:sp>
        <p:nvSpPr>
          <p:cNvPr id="15" name="Oval 14"/>
          <p:cNvSpPr/>
          <p:nvPr/>
        </p:nvSpPr>
        <p:spPr>
          <a:xfrm>
            <a:off x="2564892" y="4318253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6339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226814"/>
            <a:ext cx="83484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ChatGPT 发布。40 年后，计算机快了百万倍。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10177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书里给的答案：神经网络诞生在 1940 年代，不是 2022 年。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 · 书里原话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它始于一个关于大脑的问题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ChatGPT 基于神经网络的概念，神经网络最初是在 1940 年代作为大脑运作的理想化而发明的。我自己在 1983 年首次编写了一个神经网络，但它并没有做任何有趣的事情。但是，40 年后，随着计算机的速度快了百万倍，互联网上有数十亿页的文本，并且进行了一系列工程创新，情况已经完全不同了。出人意料的是，一个比我 1983 年使用的神经网络大十亿倍的神经网络能够生成有意义的人类语言，这曾被认为是独特的人类特征。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 斯蒂芬·沃尔夫勒姆《这就是 ChatGPT》前言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05 · 2024 诺奖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的根，长在物理里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01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约翰·霍普菲尔德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物理学家。1982 年提出霍普菲尔德网络：借物理里的「能量」解释联想记忆——给一半，能想起全部。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03779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02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杰弗里·辛顿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69539"/>
            <a:ext cx="10543032" cy="688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计算机科学家。1970 年代开始研究神经网络，1985 年做出玻尔兹曼机，2006 年带火深度学习，2012 年 AlexNet 夺冠后神经网络被大规模应用——今天的大模型仍走这条路。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95369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03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为什么是物理学奖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61129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2024 年诺贝尔物理学奖授予两人，表彰「为利用人工神经网络实现机器学习奠定基础性发现与发明」。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177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从 1940 年代起的这条线，走了八十年，走到了斯德哥尔摩。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从一个问题开始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今天不讲结论，先讲问题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先问一句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创作，最重要的是什么？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副：先别急着回答，我们把它拆开看。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一切源于一个真实的提问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问题不同，答案的高度就不同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论文原文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三类回答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5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如果问对土地改革过程感兴趣的青年学者他们研究的问题是什么，他们的回答一般会呈现三类形式，例如：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5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(1)「我想知道土地改革过程的发生和发展过程。」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5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(2)「我想知道土地改革过程中『情感动员』（或任何一个其他的视角）是怎么进行的。」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5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(3)「我发觉土地改革过程在各地呈现出许多不同，例如福建土地改革的斗争对象往往是宗祠而不是地主，『小土地出租者』这一成分划分在江南一带出现得较多，在有些地方土地改革过程首先发动起来的是一些社会边缘群体……我想知道为什么土地改革过程在各地区呈现出这些差异。」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5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以上三类回答中，前两类回答中的发问都属于过程性发问，第三类发问则属于差异性发问。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——《质性社会学研究的差异性发问和发问艺术》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三种问法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同一个题目，三种问法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过程性发问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47088"/>
            <a:ext cx="789127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「我想知道土地改革过程的发生和发展过程。」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0779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6265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视角性发问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944368"/>
            <a:ext cx="789127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「我想知道土地改革过程中『情感动员』是怎么进行的。」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0507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5993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差异性发问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041648"/>
            <a:ext cx="789127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「我想知道为什么土地改革过程在各地区呈现出这些差异。」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10235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第一类较难培养；第二类容易培养，但也许会因为缺乏想象力而难以成为一位优秀学者；第三类不但比较容易培养，而且还有成为优秀学者的潜质。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 · 差别在哪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过程性发问在收集材料，差异性发问在生产解释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副：前者问「怎么发生的」，后者先看见差异，再问「为什么不一样」。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把问题问成第三种，AI 的输出才会跟别人的不一样。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 · 真事一桩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我的产品：微信悦读，是被一句话问出来的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01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一开始的问法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「帮我做一个微信读书的笔记导出插件。」AI 会很听话地给你一个导出功能——市面上已经有十几款。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03779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02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换成的问法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69539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「为什么有的人几千条笔记越用越有用，我的上万条笔记再也没被翻出来？」这两类人差在哪？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7046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03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2806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答案指向「重新遇见」，而不是「存档导出」——于是有了每日卡片、灵感漫游、读书人性格版。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177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同一个模型、同一个我，差别只在这句话怎么问。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解决一个真实问题的初心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不是先有 AI，是先有问题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我的产品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「微信阅读」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01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它替谁解决什么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给读书多、笔记多的人：让微信读书里的阅读更轻松，让上万条笔记重新被翻出来。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03779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02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为什么做它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69539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自己的笔记记完就死；市面上的十几款插件，要么不好用，要么开始收费。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7046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03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在里面做了什么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2806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写代码、搭结构、改文案——我出问题，它出活。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177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永久公益、免费、无广告、开源。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初心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先有真实的问题，再谈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副：不解决真问题的创作，做得再快也只是练习。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「我一开始只想做一个小插件。别一上来就想做平台。」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一套工具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然后才是方法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协作架构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我和 AI 是怎么分工的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47088"/>
            <a:ext cx="789127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提真问题、做判断、定标准——不外包。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32888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69464"/>
            <a:ext cx="789127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常驻约束：首末页不动、只认结构文件、文件只放这几个目录。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5526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101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技能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91840"/>
            <a:ext cx="789127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按需加载：把「做对一次」写成 SOP 和脚本。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7764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3250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命令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14215"/>
            <a:ext cx="789127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一句话点名：按模板出一版课件。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700016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736592"/>
            <a:ext cx="7891271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它的手脚：读写文件、跑脚本、开浏览器。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42239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规则管不许乱来，技能管怎么做对，命令管怎么开口。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一句话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你出问题，它出活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副：把经验存进文件，它下次不用再学一遍。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 · 一份结构文件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六种页面，够用了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47088"/>
            <a:ext cx="7891271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章节封面，每章开头一张。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1249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735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quote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449068"/>
            <a:ext cx="7891271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原文引用，一段话一页，长了自动续页。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1447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6933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051048"/>
            <a:ext cx="7891271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一句要停三秒的话。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16451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71315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653027"/>
            <a:ext cx="7891271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并列的三四件事。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1843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7329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255007"/>
            <a:ext cx="7891271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人物、概念、文件清单。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82041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75275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856987"/>
            <a:ext cx="7891271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有先后的过程。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42239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714999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版式固定，脚本负责排版——你只管把内容写对。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 · 课件生产线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内容一份，模板一套，脚本一支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00_素材/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原始稿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我写的初稿、录音转写、参考文档。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03779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01_内容结构.md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唯一内容源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69539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原文整段进，不删不改写；缺的地方我来补。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7046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课件模版.pptx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固定首末页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2806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首页和末页原样保留，一个字不动。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90313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build_ppt.py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自动排版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56073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分页、查缺图与溢出。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77840"/>
            <a:ext cx="10177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迭代公式：改结构 → 再跑一次 → 得到新版本。人不碰页面，只碰内容。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05 · 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微信悦读是怎么长出来的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6040" y="1920240"/>
            <a:ext cx="10972" cy="324612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64892" y="1883664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792224"/>
            <a:ext cx="83484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先有一个自己的痛点：上万条笔记再也没被翻出来；十几款插件，要么不好用，要么开始收费。</a:t>
            </a:r>
          </a:p>
        </p:txBody>
      </p:sp>
      <p:sp>
        <p:nvSpPr>
          <p:cNvPr id="9" name="Oval 8"/>
          <p:cNvSpPr/>
          <p:nvPr/>
        </p:nvSpPr>
        <p:spPr>
          <a:xfrm>
            <a:off x="2564892" y="2532888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780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41448"/>
            <a:ext cx="83484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收敛成两个命题：让微信读书里的阅读更轻松；让笔记重新焕发活力。</a:t>
            </a:r>
          </a:p>
        </p:txBody>
      </p:sp>
      <p:sp>
        <p:nvSpPr>
          <p:cNvPr id="12" name="Oval 11"/>
          <p:cNvSpPr/>
          <p:nvPr/>
        </p:nvSpPr>
        <p:spPr>
          <a:xfrm>
            <a:off x="2564892" y="318211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272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090672"/>
            <a:ext cx="83484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先找地基：微信读书开放了官方 API，能拿到自己的全部阅读数据。</a:t>
            </a:r>
          </a:p>
        </p:txBody>
      </p:sp>
      <p:sp>
        <p:nvSpPr>
          <p:cNvPr id="15" name="Oval 14"/>
          <p:cNvSpPr/>
          <p:nvPr/>
        </p:nvSpPr>
        <p:spPr>
          <a:xfrm>
            <a:off x="2564892" y="3831336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7647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739896"/>
            <a:ext cx="83484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只做最小可用版：「我一开始只想做一个小插件。别一上来就想做平台。」</a:t>
            </a:r>
          </a:p>
        </p:txBody>
      </p:sp>
      <p:sp>
        <p:nvSpPr>
          <p:cNvPr id="18" name="Oval 17"/>
          <p:cNvSpPr/>
          <p:nvPr/>
        </p:nvSpPr>
        <p:spPr>
          <a:xfrm>
            <a:off x="2564892" y="4480559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256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389120"/>
            <a:ext cx="83484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边做边长：插件 → 小程序（悦读且住）→ H5 → 网站。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177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想法像泉水一样冒出来——是做着做着，才长成一套的。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06 · 长出来的功能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三个功能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01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每日卡片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让死去的知识，重新和你建立关联。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03779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02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灵感漫游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69539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把零散的笔记，拼成一篇有结构的文章。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7046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03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读书人性格版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2806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从阅读数据里算出 16 种人格。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177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AI 在这个过程中，做了粘合剂，和一个提醒者角色。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07 · 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我要做的是一个产品，而不是一个工具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副：好的产品，是能帮助到人的，以及让人成长。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08 · 我的原话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老板与员工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模型只是员工，它不够好，不是你的问题。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你有没有当好这个老板，才是问题。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——《普通人用 AI 做软件应该怎么去做？》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09 · 我的工具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三件套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Trae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编程工具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负责把想法落成能跑的文件。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03779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DeepSeek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大模型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69539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负责想、写、改、查。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7046"/>
            <a:ext cx="10543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Obsidian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知识管理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2806"/>
            <a:ext cx="10543032" cy="389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负责把素材和结构存住、串起来。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177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工具会换，问题不会。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10 · 最后一页之前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这个 PPT 也是我和 AI 协作出来的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副：从初稿到版式，每一步都在同一个文件里迭代。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11 · 推荐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四样东西带走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《这就是ChatGPT》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47088"/>
            <a:ext cx="7891271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AI 到底怎么工作，一本书讲清楚。AI：推荐语修改掉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5346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832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《深度学习革命》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90038"/>
            <a:ext cx="7891271" cy="1062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凯德·梅茨写的深度学习史：辛顿、杨立昆、本吉奥怎样熬过两次寒冬，把神经网络送上牌桌。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1645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71315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花叔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53028"/>
            <a:ext cx="7891271" cy="1062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独立开发者，代表作小猫补光灯（App Store 付费榜 Top1）；著有《一本书玩转 DeepSeek》、《AI 编程橙皮书》系列。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67944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3430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质性社会学那篇论文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716018"/>
            <a:ext cx="7891271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学怎么问出一个真正的问题。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422392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提问的能力，比工具活得更久。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AI创作：什么是最重要的？　·　Chester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1"/>
          <p:cNvSpPr/>
          <p:nvPr/>
        </p:nvSpPr>
        <p:spPr>
          <a:xfrm>
            <a:off x="2095500" y="12065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6000" b="1">
                <a:solidFill>
                  <a:srgbClr val="FFFFFF"/>
                </a:solidFill>
                <a:latin typeface="方正雅意黑 GB18030L2" panose="02000500000000000000" charset="-122"/>
                <a:ea typeface="方正雅意黑 GB18030L2" panose="02000500000000000000" charset="-122"/>
              </a:rPr>
              <a:t>最后，祝你成为超人。</a:t>
            </a:r>
            <a:endParaRPr lang="zh-CN" sz="6000" b="1">
              <a:solidFill>
                <a:srgbClr val="FFFFFF"/>
              </a:solidFill>
              <a:latin typeface="方正雅意黑 GB18030L2" panose="02000500000000000000" charset="-122"/>
              <a:ea typeface="方正雅意黑 GB18030L2" panose="02000500000000000000" charset="-122"/>
            </a:endParaRPr>
          </a:p>
        </p:txBody>
      </p:sp>
      <p:sp>
        <p:nvSpPr>
          <p:cNvPr id="89" name="矩形 82"/>
          <p:cNvSpPr/>
          <p:nvPr/>
        </p:nvSpPr>
        <p:spPr>
          <a:xfrm>
            <a:off x="3365500" y="3149600"/>
            <a:ext cx="5461000" cy="698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600" b="1">
                <a:solidFill>
                  <a:srgbClr val="888888"/>
                </a:solidFill>
                <a:latin typeface="方正雅意黑 GB18030L2" panose="02000500000000000000" charset="-122"/>
                <a:ea typeface="方正雅意黑 GB18030L2" panose="02000500000000000000" charset="-122"/>
              </a:rPr>
              <a:t>在我的语境中有两层意思</a:t>
            </a:r>
            <a:endParaRPr lang="zh-CN" sz="3600" b="1">
              <a:solidFill>
                <a:srgbClr val="888888"/>
              </a:solidFill>
              <a:latin typeface="方正雅意黑 GB18030L2" panose="02000500000000000000" charset="-122"/>
              <a:ea typeface="方正雅意黑 GB18030L2" panose="02000500000000000000" charset="-122"/>
            </a:endParaRPr>
          </a:p>
        </p:txBody>
      </p:sp>
      <p:sp>
        <p:nvSpPr>
          <p:cNvPr id="90" name="矩形 83"/>
          <p:cNvSpPr/>
          <p:nvPr/>
        </p:nvSpPr>
        <p:spPr>
          <a:xfrm>
            <a:off x="3746500" y="3937000"/>
            <a:ext cx="4699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/>
            <a:r>
              <a:rPr lang="zh-CN" sz="3400" b="1">
                <a:solidFill>
                  <a:srgbClr val="CCCCCC"/>
                </a:solidFill>
                <a:latin typeface="方正雅意黑 GB18030L2" panose="02000500000000000000" charset="-122"/>
                <a:ea typeface="方正雅意黑 GB18030L2" panose="02000500000000000000" charset="-122"/>
              </a:rPr>
              <a:t>在生活中游刃有余的人</a:t>
            </a:r>
            <a:endParaRPr lang="zh-CN" sz="3400" b="1">
              <a:solidFill>
                <a:srgbClr val="CCCCCC"/>
              </a:solidFill>
              <a:latin typeface="方正雅意黑 GB18030L2" panose="02000500000000000000" charset="-122"/>
              <a:ea typeface="方正雅意黑 GB18030L2" panose="02000500000000000000" charset="-122"/>
            </a:endParaRPr>
          </a:p>
        </p:txBody>
      </p:sp>
      <p:sp>
        <p:nvSpPr>
          <p:cNvPr id="91" name="矩形 84"/>
          <p:cNvSpPr/>
          <p:nvPr/>
        </p:nvSpPr>
        <p:spPr>
          <a:xfrm>
            <a:off x="1604645" y="4660900"/>
            <a:ext cx="8769985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/>
            <a:r>
              <a:rPr lang="zh-CN" sz="3400" b="1">
                <a:solidFill>
                  <a:srgbClr val="999999"/>
                </a:solidFill>
                <a:latin typeface="方正雅意黑 GB18030L2" panose="02000500000000000000" charset="-122"/>
                <a:ea typeface="方正雅意黑 GB18030L2" panose="02000500000000000000" charset="-122"/>
                <a:cs typeface="方正雅意黑 GB18030L2" panose="02000500000000000000" charset="-122"/>
              </a:rPr>
              <a:t>「人应该是被超越的某种东西。」—— 尼采</a:t>
            </a:r>
            <a:endParaRPr lang="zh-CN" sz="3400" b="1">
              <a:solidFill>
                <a:srgbClr val="999999"/>
              </a:solidFill>
              <a:latin typeface="方正雅意黑 GB18030L2" panose="02000500000000000000" charset="-122"/>
              <a:ea typeface="方正雅意黑 GB18030L2" panose="02000500000000000000" charset="-122"/>
              <a:cs typeface="方正雅意黑 GB18030L2" panose="020005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1526</Words>
  <Application>WPS 表格</Application>
  <PresentationFormat/>
  <Paragraphs>366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9" baseType="lpstr">
      <vt:lpstr>Arial</vt:lpstr>
      <vt:lpstr>宋体</vt:lpstr>
      <vt:lpstr>Wingdings</vt:lpstr>
      <vt:lpstr>Arial</vt:lpstr>
      <vt:lpstr>Helvetica Neue</vt:lpstr>
      <vt:lpstr>微软雅黑</vt:lpstr>
      <vt:lpstr>方正雅意黑 GB18030L2</vt:lpstr>
      <vt:lpstr>PingFang SC</vt:lpstr>
      <vt:lpstr>Thonburi</vt:lpstr>
      <vt:lpstr>Calibri</vt:lpstr>
      <vt:lpstr>Helvetica Neue</vt:lpstr>
      <vt:lpstr>微软雅黑</vt:lpstr>
      <vt:lpstr>汉仪书宋二KW</vt:lpstr>
      <vt:lpstr>宋体</vt:lpstr>
      <vt:lpstr>Arial Unicode MS</vt:lpstr>
      <vt:lpstr>PingFang SC</vt:lpstr>
      <vt:lpstr>苹方-简</vt:lpstr>
      <vt:lpstr>MicrosoftYaHei</vt:lpstr>
      <vt:lpstr>ArialMT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你坐偏了</cp:lastModifiedBy>
  <cp:revision>17</cp:revision>
  <dcterms:created xsi:type="dcterms:W3CDTF">2026-10-23T03:56:00Z</dcterms:created>
  <dcterms:modified xsi:type="dcterms:W3CDTF">2026-10-23T03:56:00Z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EDF8503F81BBF1FF42BEA86A39D47C0F_42</vt:lpwstr>
  </property>
  <property fmtid="{D5CDD505-2E9C-101B-9397-08002B2CF9AE}" pid="3" name="KSOProductBuildVer">
    <vt:lpwstr>2052-12.1.28496.28496</vt:lpwstr>
  </property>
</Properties>
</file>